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</p:sldIdLst>
  <p:sldSz cy="6858000" cx="12192000"/>
  <p:notesSz cx="6858000" cy="9144000"/>
  <p:embeddedFontLst>
    <p:embeddedFont>
      <p:font typeface="Noto Sans TC"/>
      <p:regular r:id="rId105"/>
      <p:bold r:id="rId106"/>
    </p:embeddedFont>
    <p:embeddedFont>
      <p:font typeface="JetBrains Mono"/>
      <p:regular r:id="rId107"/>
      <p:bold r:id="rId108"/>
      <p:italic r:id="rId109"/>
      <p:boldItalic r:id="rId1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font" Target="fonts/JetBrainsMono-regular.fntdata"/><Relationship Id="rId106" Type="http://schemas.openxmlformats.org/officeDocument/2006/relationships/font" Target="fonts/NotoSansTC-bold.fntdata"/><Relationship Id="rId105" Type="http://schemas.openxmlformats.org/officeDocument/2006/relationships/font" Target="fonts/NotoSansTC-regular.fntdata"/><Relationship Id="rId104" Type="http://schemas.openxmlformats.org/officeDocument/2006/relationships/slide" Target="slides/slide99.xml"/><Relationship Id="rId109" Type="http://schemas.openxmlformats.org/officeDocument/2006/relationships/font" Target="fonts/JetBrainsMono-italic.fntdata"/><Relationship Id="rId108" Type="http://schemas.openxmlformats.org/officeDocument/2006/relationships/font" Target="fonts/JetBrainsMono-bold.fnt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10" Type="http://schemas.openxmlformats.org/officeDocument/2006/relationships/font" Target="fonts/JetBrainsMono-boldItalic.fntdata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f4703ccd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bf4703ccda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f4703ccd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bf4703ccd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f5ee95006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bf5ee95006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f5ee95006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bf5ee95006_1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e5b9cf4e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be5b9cf4ef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e5b9cf4e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be5b9cf4ef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f4703ccd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bf4703ccda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f4703ccda_0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bf4703ccd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f4703ccda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bf4703ccda_0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f4703ccda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bf4703ccda_0_3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e5b9cf4ef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be5b9cf4ef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e5b9cf4ef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be5b9cf4ef_0_5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f5644f00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bf5644f00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f5644f00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bf5644f008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f5644f00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bf5644f008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f5644f00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bf5644f008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bf5644f008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bf5644f00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f4703ccda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bf4703ccda_0_4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5644f00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bf5644f008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f4703ccda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bf4703ccda_0_5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f5644f00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bf5644f008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bf5644f008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bf5644f00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f5ee9500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bf5ee95006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f5ee95006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bf5ee95006_3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5ee95006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bf5ee95006_3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f5ee95006_3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bf5ee95006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bf5ee95006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bf5ee95006_3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bf5ee95006_3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bf5ee95006_3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f5ee95006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bf5ee95006_3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f5ee95006_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bf5ee95006_3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bf5ee95006_3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bf5ee95006_3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f5ee95006_3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bf5ee95006_3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f5ee95006_3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bf5ee95006_3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f5ee95006_3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bf5ee95006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bf5ee95006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bf5ee95006_1_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bf5ee95006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bf5ee95006_1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ca9ef21c73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ca9ef21c73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ca9ef21c7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ca9ef21c73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ca9ef21c7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ca9ef21c73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bf5ee95006_1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bf5ee95006_1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c09ae31c74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c09ae31c7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ca9ef21c73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ca9ef21c73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ca9ef21c73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ca9ef21c73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c09ae31c7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c09ae31c7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ca9ef21c73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ca9ef21c73_1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ca9ef21c73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ca9ef21c73_1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ca9ef21c73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ca9ef21c73_1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ca9ef21c73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ca9ef21c73_1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c09ae31c74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c09ae31c7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bf5ee95006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bf5ee95006_1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ca9ef21c73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ca9ef21c73_1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ca9ef21c73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ca9ef21c73_1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ca9ef21c73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3ca9ef21c73_1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c09ae31c74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c09ae31c7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ca9ef21c73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g3ca9ef21c73_1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ca9ef21c73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g3ca9ef21c73_1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c09ae31c74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c09ae31c7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bf5ee95006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g3bf5ee95006_1_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bf5ee95006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bf5ee95006_1_2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bf5ee95006_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g3bf5ee95006_1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bf5ee95006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g3bf5ee95006_1_2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bf5ee95006_1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g3bf5ee95006_1_2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bf5ee95006_1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g3bf5ee95006_1_2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bf5ee95006_1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g3bf5ee95006_1_2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c09ae31c74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c09ae31c7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ca9ef21c73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g3ca9ef21c73_1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ca9ef21c73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ca9ef21c73_1_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ca9ef21c73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g3ca9ef21c73_1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c09ae31c74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c09ae31c7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ca9ef21c73_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g3ca9ef21c73_1_2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ca9ef21c73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g3ca9ef21c73_1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c09ae31c74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c09ae31c7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ca9ef21c73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g3ca9ef21c73_1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ca9ef21c73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g3ca9ef21c73_1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c09ae31c74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c09ae31c7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958b239c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g3958b239ca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958b239ca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g3958b239ca1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958b239ca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g3958b239ca1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958b239ca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g3958b239ca1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958b239ca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g3958b239ca1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958b239ca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g3958b239ca1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958b239ca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g3958b239ca1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958b239ca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g3958b239ca1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958b239ca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g3958b239ca1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958b239ca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g3958b239ca1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958b239ca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g3958b239ca1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958b239ca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g3958b239ca1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958b239ca1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g3958b239ca1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958b239ca1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958b239ca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958b239ca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g3958b239ca1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958b239ca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g3958b239ca1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958b239ca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g3958b239ca1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958b239ca1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g3958b239ca1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958b239ca1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g3958b239ca1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958b239ca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g3958b239ca1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958b239ca1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g3958b239ca1_0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958b239ca1_0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3958b239ca1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11" Type="http://schemas.openxmlformats.org/officeDocument/2006/relationships/image" Target="../media/image9.png"/><Relationship Id="rId10" Type="http://schemas.openxmlformats.org/officeDocument/2006/relationships/image" Target="../media/image6.png"/><Relationship Id="rId9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11" Type="http://schemas.openxmlformats.org/officeDocument/2006/relationships/image" Target="../media/image9.png"/><Relationship Id="rId10" Type="http://schemas.openxmlformats.org/officeDocument/2006/relationships/image" Target="../media/image6.png"/><Relationship Id="rId9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11" Type="http://schemas.openxmlformats.org/officeDocument/2006/relationships/image" Target="../media/image9.png"/><Relationship Id="rId10" Type="http://schemas.openxmlformats.org/officeDocument/2006/relationships/image" Target="../media/image6.png"/><Relationship Id="rId9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11" Type="http://schemas.openxmlformats.org/officeDocument/2006/relationships/image" Target="../media/image9.png"/><Relationship Id="rId10" Type="http://schemas.openxmlformats.org/officeDocument/2006/relationships/image" Target="../media/image6.png"/><Relationship Id="rId9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hyperlink" Target="https://docs.google.com/document/d/1uNZgv125KTMh1R79wOrQgEq-Y7k-pdBbaHQvxTcnhc0/edit?tab=t.jnrb85fal13u" TargetMode="External"/><Relationship Id="rId5" Type="http://schemas.openxmlformats.org/officeDocument/2006/relationships/hyperlink" Target="https://docs.google.com/document/d/1uNZgv125KTMh1R79wOrQgEq-Y7k-pdBbaHQvxTcnhc0/edit?tab=t.jnrb85fal13u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Relationship Id="rId4" Type="http://schemas.openxmlformats.org/officeDocument/2006/relationships/hyperlink" Target="http://localhost:8080/api/surveys/session-store" TargetMode="External"/><Relationship Id="rId5" Type="http://schemas.openxmlformats.org/officeDocument/2006/relationships/hyperlink" Target="https://docs.google.com/document/d/1uNZgv125KTMh1R79wOrQgEq-Y7k-pdBbaHQvxTcnhc0/edit?tab=t.jnrb85fal13u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.png"/><Relationship Id="rId4" Type="http://schemas.openxmlformats.org/officeDocument/2006/relationships/hyperlink" Target="https://docs.google.com/document/d/1uNZgv125KTMh1R79wOrQgEq-Y7k-pdBbaHQvxTcnhc0/edit?tab=t.jnrb85fal13u" TargetMode="Externa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9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9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9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9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9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9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9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9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9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9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9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9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9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2628" y="905916"/>
            <a:ext cx="4426594" cy="4855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882625" y="1604975"/>
            <a:ext cx="4558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6F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Java Spring Boot Course</a:t>
            </a:r>
            <a:endParaRPr sz="2535"/>
          </a:p>
        </p:txBody>
      </p:sp>
      <p:sp>
        <p:nvSpPr>
          <p:cNvPr id="88" name="Google Shape;88;p13"/>
          <p:cNvSpPr txBox="1"/>
          <p:nvPr/>
        </p:nvSpPr>
        <p:spPr>
          <a:xfrm>
            <a:off x="2642675" y="2134650"/>
            <a:ext cx="6929700" cy="22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60" u="none" cap="none" strike="noStrike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Spring Boot</a:t>
            </a:r>
            <a:br>
              <a:rPr b="0" i="0" lang="en-US" sz="21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60" u="none" cap="none" strike="noStrike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b="1" lang="en-US" sz="526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動態問卷</a:t>
            </a:r>
            <a:endParaRPr b="1" sz="526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52500"/>
            <a:ext cx="9906000" cy="47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143001" y="3026508"/>
            <a:ext cx="9906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設定</a:t>
            </a:r>
            <a:endParaRPr sz="8112"/>
          </a:p>
        </p:txBody>
      </p:sp>
      <p:sp>
        <p:nvSpPr>
          <p:cNvPr id="96" name="Google Shape;96;p14"/>
          <p:cNvSpPr/>
          <p:nvPr/>
        </p:nvSpPr>
        <p:spPr>
          <a:xfrm>
            <a:off x="5619750" y="4287522"/>
            <a:ext cx="952500" cy="38100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40102"/>
            <a:ext cx="5191125" cy="202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840102"/>
            <a:ext cx="5191125" cy="202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4094760"/>
            <a:ext cx="5191125" cy="241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290207" y="2087750"/>
            <a:ext cx="34770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新增資訊 (addInfo)</a:t>
            </a:r>
            <a:endParaRPr sz="2789"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61235"/>
            <a:ext cx="5191125" cy="241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6767078" y="2087750"/>
            <a:ext cx="4127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交易功能 (Deposit/Withdraw)</a:t>
            </a:r>
            <a:endParaRPr sz="2789"/>
          </a:p>
        </p:txBody>
      </p:sp>
      <p:sp>
        <p:nvSpPr>
          <p:cNvPr id="108" name="Google Shape;108;p15"/>
          <p:cNvSpPr txBox="1"/>
          <p:nvPr/>
        </p:nvSpPr>
        <p:spPr>
          <a:xfrm>
            <a:off x="1290213" y="4342400"/>
            <a:ext cx="272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密碼與查詢</a:t>
            </a:r>
            <a:endParaRPr sz="2789"/>
          </a:p>
        </p:txBody>
      </p:sp>
      <p:sp>
        <p:nvSpPr>
          <p:cNvPr id="109" name="Google Shape;109;p15"/>
          <p:cNvSpPr txBox="1"/>
          <p:nvPr/>
        </p:nvSpPr>
        <p:spPr>
          <a:xfrm>
            <a:off x="6767089" y="4342400"/>
            <a:ext cx="290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API 與測試</a:t>
            </a:r>
            <a:endParaRPr sz="2789"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16961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247775" y="2613425"/>
            <a:ext cx="461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帳號檢查：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非空、英數底線、3-8碼。</a:t>
            </a:r>
            <a:endParaRPr sz="2535"/>
          </a:p>
        </p:txBody>
      </p:sp>
      <p:sp>
        <p:nvSpPr>
          <p:cNvPr id="112" name="Google Shape;112;p15"/>
          <p:cNvSpPr txBox="1"/>
          <p:nvPr/>
        </p:nvSpPr>
        <p:spPr>
          <a:xfrm>
            <a:off x="1247775" y="2975375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密碼檢查：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非空、英數底線、8-16碼。</a:t>
            </a:r>
            <a:endParaRPr sz="2535"/>
          </a:p>
        </p:txBody>
      </p:sp>
      <p:sp>
        <p:nvSpPr>
          <p:cNvPr id="113" name="Google Shape;113;p15"/>
          <p:cNvSpPr txBox="1"/>
          <p:nvPr/>
        </p:nvSpPr>
        <p:spPr>
          <a:xfrm>
            <a:off x="1247775" y="3337325"/>
            <a:ext cx="461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安全：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僅能新增，需進行防呆檢查。</a:t>
            </a:r>
            <a:endParaRPr sz="2535"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16961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724650" y="2613425"/>
            <a:ext cx="405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需驗證帳號與密碼正確性。</a:t>
            </a:r>
            <a:endParaRPr sz="2535"/>
          </a:p>
        </p:txBody>
      </p:sp>
      <p:sp>
        <p:nvSpPr>
          <p:cNvPr id="116" name="Google Shape;116;p15"/>
          <p:cNvSpPr txBox="1"/>
          <p:nvPr/>
        </p:nvSpPr>
        <p:spPr>
          <a:xfrm>
            <a:off x="6724650" y="2975375"/>
            <a:ext cx="44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提款與存款需更新 balance。</a:t>
            </a:r>
            <a:endParaRPr sz="2535"/>
          </a:p>
        </p:txBody>
      </p:sp>
      <p:sp>
        <p:nvSpPr>
          <p:cNvPr id="117" name="Google Shape;117;p15"/>
          <p:cNvSpPr txBox="1"/>
          <p:nvPr/>
        </p:nvSpPr>
        <p:spPr>
          <a:xfrm>
            <a:off x="6724650" y="3337325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回傳：帳號、交易金額、交易後餘額。</a:t>
            </a:r>
            <a:endParaRPr sz="2535"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42426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247775" y="4868075"/>
            <a:ext cx="470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查詢餘額：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驗證帳密，回傳餘額 (Response 中密碼欄位不可有值)。</a:t>
            </a:r>
            <a:endParaRPr sz="2535"/>
          </a:p>
        </p:txBody>
      </p:sp>
      <p:sp>
        <p:nvSpPr>
          <p:cNvPr id="120" name="Google Shape;120;p15"/>
          <p:cNvSpPr txBox="1"/>
          <p:nvPr/>
        </p:nvSpPr>
        <p:spPr>
          <a:xfrm>
            <a:off x="1247775" y="5810062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修改密碼：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需驗證舊帳密，符合規則始可更新。</a:t>
            </a:r>
            <a:endParaRPr sz="2535"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4150" y="442426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6724650" y="4868071"/>
            <a:ext cx="441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Controller: AtmServiceController</a:t>
            </a:r>
            <a:endParaRPr sz="2535"/>
          </a:p>
        </p:txBody>
      </p:sp>
      <p:sp>
        <p:nvSpPr>
          <p:cNvPr id="123" name="Google Shape;123;p15"/>
          <p:cNvSpPr txBox="1"/>
          <p:nvPr/>
        </p:nvSpPr>
        <p:spPr>
          <a:xfrm>
            <a:off x="6724650" y="5400562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工具：使用 </a:t>
            </a: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Postman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進行 API 測試。</a:t>
            </a:r>
            <a:endParaRPr sz="2535"/>
          </a:p>
        </p:txBody>
      </p:sp>
      <p:sp>
        <p:nvSpPr>
          <p:cNvPr id="124" name="Google Shape;124;p15"/>
          <p:cNvSpPr txBox="1"/>
          <p:nvPr/>
        </p:nvSpPr>
        <p:spPr>
          <a:xfrm>
            <a:off x="6724650" y="5913085"/>
            <a:ext cx="461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包含 Request/Response 物件設計與 Status Code 處理。</a:t>
            </a:r>
            <a:endParaRPr sz="2535"/>
          </a:p>
        </p:txBody>
      </p:sp>
      <p:sp>
        <p:nvSpPr>
          <p:cNvPr id="125" name="Google Shape;125;p15"/>
          <p:cNvSpPr txBox="1"/>
          <p:nvPr/>
        </p:nvSpPr>
        <p:spPr>
          <a:xfrm>
            <a:off x="1057275" y="2613421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26" name="Google Shape;126;p15"/>
          <p:cNvSpPr txBox="1"/>
          <p:nvPr/>
        </p:nvSpPr>
        <p:spPr>
          <a:xfrm>
            <a:off x="1057275" y="2975371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27" name="Google Shape;127;p15"/>
          <p:cNvSpPr txBox="1"/>
          <p:nvPr/>
        </p:nvSpPr>
        <p:spPr>
          <a:xfrm>
            <a:off x="1057275" y="3358775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28" name="Google Shape;128;p15"/>
          <p:cNvSpPr txBox="1"/>
          <p:nvPr/>
        </p:nvSpPr>
        <p:spPr>
          <a:xfrm>
            <a:off x="6534150" y="2613421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29" name="Google Shape;129;p15"/>
          <p:cNvSpPr txBox="1"/>
          <p:nvPr/>
        </p:nvSpPr>
        <p:spPr>
          <a:xfrm>
            <a:off x="6534150" y="2975371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30" name="Google Shape;130;p15"/>
          <p:cNvSpPr txBox="1"/>
          <p:nvPr/>
        </p:nvSpPr>
        <p:spPr>
          <a:xfrm>
            <a:off x="6534150" y="3337321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31" name="Google Shape;131;p15"/>
          <p:cNvSpPr txBox="1"/>
          <p:nvPr/>
        </p:nvSpPr>
        <p:spPr>
          <a:xfrm>
            <a:off x="1057275" y="4868071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32" name="Google Shape;132;p15"/>
          <p:cNvSpPr txBox="1"/>
          <p:nvPr/>
        </p:nvSpPr>
        <p:spPr>
          <a:xfrm>
            <a:off x="1057275" y="5803538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33" name="Google Shape;133;p15"/>
          <p:cNvSpPr txBox="1"/>
          <p:nvPr/>
        </p:nvSpPr>
        <p:spPr>
          <a:xfrm>
            <a:off x="6534150" y="4868071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34" name="Google Shape;134;p15"/>
          <p:cNvSpPr txBox="1"/>
          <p:nvPr/>
        </p:nvSpPr>
        <p:spPr>
          <a:xfrm>
            <a:off x="6534150" y="5382570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35" name="Google Shape;135;p15"/>
          <p:cNvSpPr txBox="1"/>
          <p:nvPr/>
        </p:nvSpPr>
        <p:spPr>
          <a:xfrm>
            <a:off x="6534150" y="5908878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36" name="Google Shape;136;p15"/>
          <p:cNvSpPr txBox="1"/>
          <p:nvPr/>
        </p:nvSpPr>
        <p:spPr>
          <a:xfrm>
            <a:off x="762000" y="571500"/>
            <a:ext cx="112014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9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ATM：業務邏輯與 API 規範</a:t>
            </a:r>
            <a:endParaRPr sz="5324"/>
          </a:p>
        </p:txBody>
      </p:sp>
      <p:sp>
        <p:nvSpPr>
          <p:cNvPr id="137" name="Google Shape;137;p15"/>
          <p:cNvSpPr/>
          <p:nvPr/>
        </p:nvSpPr>
        <p:spPr>
          <a:xfrm>
            <a:off x="762000" y="1354335"/>
            <a:ext cx="10668000" cy="9525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8" name="Google Shape;13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build.gradle 設定(1)</a:t>
            </a:r>
            <a:endParaRPr sz="4563"/>
          </a:p>
        </p:txBody>
      </p:sp>
      <p:sp>
        <p:nvSpPr>
          <p:cNvPr id="140" name="Google Shape;140;p15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571500" y="1278049"/>
            <a:ext cx="9816900" cy="55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1F1F"/>
                </a:solidFill>
              </a:rPr>
              <a:t>dependencies {</a:t>
            </a:r>
            <a:br>
              <a:rPr lang="en-US" sz="1600">
                <a:solidFill>
                  <a:srgbClr val="1F1F1F"/>
                </a:solidFill>
              </a:rPr>
            </a:br>
            <a:r>
              <a:rPr lang="en-US" sz="1600">
                <a:solidFill>
                  <a:srgbClr val="1F1F1F"/>
                </a:solidFill>
              </a:rPr>
              <a:t>    </a:t>
            </a:r>
            <a:r>
              <a:rPr lang="en-US" sz="1600">
                <a:solidFill>
                  <a:srgbClr val="808080"/>
                </a:solidFill>
              </a:rPr>
              <a:t>// [資料庫存取] 提供 JPA 支援與 Hibernate 實作</a:t>
            </a:r>
            <a:endParaRPr sz="1600">
              <a:solidFill>
                <a:srgbClr val="808080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chemeClr val="dk1"/>
                </a:solidFill>
              </a:rPr>
              <a:t>implementation </a:t>
            </a:r>
            <a:r>
              <a:rPr lang="en-US" sz="1600">
                <a:solidFill>
                  <a:srgbClr val="17C6A3"/>
                </a:solidFill>
              </a:rPr>
              <a:t>'org.springframework.boot:spring-boot-starter-data-jpa'</a:t>
            </a:r>
            <a:endParaRPr sz="1600">
              <a:solidFill>
                <a:srgbClr val="17C6A3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</a:t>
            </a:r>
            <a:endParaRPr sz="1600">
              <a:solidFill>
                <a:srgbClr val="CCCCCC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rgbClr val="808080"/>
                </a:solidFill>
              </a:rPr>
              <a:t>// [Web 核心] 提供 REST API 開發與 MVC 架構支援</a:t>
            </a:r>
            <a:endParaRPr sz="1600">
              <a:solidFill>
                <a:srgbClr val="808080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	</a:t>
            </a:r>
            <a:r>
              <a:rPr lang="en-US" sz="1600">
                <a:solidFill>
                  <a:schemeClr val="dk1"/>
                </a:solidFill>
              </a:rPr>
              <a:t>implementation </a:t>
            </a:r>
            <a:r>
              <a:rPr lang="en-US" sz="1600">
                <a:solidFill>
                  <a:srgbClr val="17C6A3"/>
                </a:solidFill>
              </a:rPr>
              <a:t>'org.springframework.boot:spring-boot-starter-webmvc'</a:t>
            </a:r>
            <a:endParaRPr sz="1600">
              <a:solidFill>
                <a:srgbClr val="17C6A3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</a:t>
            </a:r>
            <a:endParaRPr sz="1600">
              <a:solidFill>
                <a:srgbClr val="CCCCCC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rgbClr val="808080"/>
                </a:solidFill>
              </a:rPr>
              <a:t>// [資料驗證] 提供 @NotBlank, @Size 等 Bean Validation 註解支援</a:t>
            </a:r>
            <a:endParaRPr sz="1600">
              <a:solidFill>
                <a:srgbClr val="808080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	</a:t>
            </a:r>
            <a:r>
              <a:rPr lang="en-US" sz="1600">
                <a:solidFill>
                  <a:schemeClr val="dk1"/>
                </a:solidFill>
              </a:rPr>
              <a:t>implementation </a:t>
            </a:r>
            <a:r>
              <a:rPr lang="en-US" sz="1600">
                <a:solidFill>
                  <a:srgbClr val="17C6A3"/>
                </a:solidFill>
              </a:rPr>
              <a:t>'org.springframework.boot:spring-boot-starter-validation'</a:t>
            </a:r>
            <a:endParaRPr sz="1600">
              <a:solidFill>
                <a:srgbClr val="17C6A3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</a:t>
            </a:r>
            <a:endParaRPr sz="1600">
              <a:solidFill>
                <a:srgbClr val="CCCCCC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rgbClr val="808080"/>
                </a:solidFill>
              </a:rPr>
              <a:t>// [安全機制] 提供 Spring Security 權限控管與加密支援</a:t>
            </a:r>
            <a:endParaRPr sz="1600">
              <a:solidFill>
                <a:srgbClr val="808080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	</a:t>
            </a:r>
            <a:r>
              <a:rPr lang="en-US" sz="1600">
                <a:solidFill>
                  <a:schemeClr val="dk1"/>
                </a:solidFill>
              </a:rPr>
              <a:t>implementation </a:t>
            </a:r>
            <a:r>
              <a:rPr lang="en-US" sz="1600">
                <a:solidFill>
                  <a:srgbClr val="17C6A3"/>
                </a:solidFill>
              </a:rPr>
              <a:t>'org.springframework.boot:spring-boot-starter-security'</a:t>
            </a:r>
            <a:endParaRPr sz="1600">
              <a:solidFill>
                <a:srgbClr val="17C6A3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</a:t>
            </a:r>
            <a:endParaRPr sz="1600">
              <a:solidFill>
                <a:srgbClr val="CCCCCC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rgbClr val="808080"/>
                </a:solidFill>
              </a:rPr>
              <a:t>// [JWT 介面] 定義 JSON Web Token 的 API 規範</a:t>
            </a:r>
            <a:endParaRPr sz="1600">
              <a:solidFill>
                <a:srgbClr val="808080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chemeClr val="dk1"/>
                </a:solidFill>
              </a:rPr>
              <a:t>implementation </a:t>
            </a:r>
            <a:r>
              <a:rPr lang="en-US" sz="1600">
                <a:solidFill>
                  <a:srgbClr val="17C6A3"/>
                </a:solidFill>
              </a:rPr>
              <a:t>'io.jsonwebtoken:jjwt-api:0.11.5'</a:t>
            </a:r>
            <a:endParaRPr sz="1600">
              <a:solidFill>
                <a:srgbClr val="17C6A3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</a:t>
            </a:r>
            <a:endParaRPr sz="1600">
              <a:solidFill>
                <a:srgbClr val="CCCCCC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rgbClr val="808080"/>
                </a:solidFill>
              </a:rPr>
              <a:t>// [開發利器] 使用註解自動產生 Getter/Setter (編譯時期)</a:t>
            </a:r>
            <a:endParaRPr sz="1600">
              <a:solidFill>
                <a:srgbClr val="808080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	</a:t>
            </a:r>
            <a:r>
              <a:rPr lang="en-US" sz="1600">
                <a:solidFill>
                  <a:schemeClr val="dk1"/>
                </a:solidFill>
              </a:rPr>
              <a:t>compileOnly </a:t>
            </a:r>
            <a:r>
              <a:rPr lang="en-US" sz="1600">
                <a:solidFill>
                  <a:srgbClr val="17C6A3"/>
                </a:solidFill>
              </a:rPr>
              <a:t>'org.projectlombok:lombok'</a:t>
            </a:r>
            <a:endParaRPr sz="1600">
              <a:solidFill>
                <a:srgbClr val="17C6A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1F1F"/>
                </a:solidFill>
              </a:rPr>
              <a:t>}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40102"/>
            <a:ext cx="5191125" cy="202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840102"/>
            <a:ext cx="5191125" cy="202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4094760"/>
            <a:ext cx="5191125" cy="241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1290207" y="2087750"/>
            <a:ext cx="34770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新增資訊 (addInfo)</a:t>
            </a:r>
            <a:endParaRPr sz="2789"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61235"/>
            <a:ext cx="5191125" cy="241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6767078" y="2087750"/>
            <a:ext cx="4127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交易功能 (Deposit/Withdraw)</a:t>
            </a:r>
            <a:endParaRPr sz="2789"/>
          </a:p>
        </p:txBody>
      </p:sp>
      <p:sp>
        <p:nvSpPr>
          <p:cNvPr id="153" name="Google Shape;153;p16"/>
          <p:cNvSpPr txBox="1"/>
          <p:nvPr/>
        </p:nvSpPr>
        <p:spPr>
          <a:xfrm>
            <a:off x="1290213" y="4342400"/>
            <a:ext cx="272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密碼與查詢</a:t>
            </a:r>
            <a:endParaRPr sz="2789"/>
          </a:p>
        </p:txBody>
      </p:sp>
      <p:sp>
        <p:nvSpPr>
          <p:cNvPr id="154" name="Google Shape;154;p16"/>
          <p:cNvSpPr txBox="1"/>
          <p:nvPr/>
        </p:nvSpPr>
        <p:spPr>
          <a:xfrm>
            <a:off x="6767089" y="4342400"/>
            <a:ext cx="290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API 與測試</a:t>
            </a:r>
            <a:endParaRPr sz="2789"/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16961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1247775" y="2613425"/>
            <a:ext cx="461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帳號檢查：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非空、英數底線、3-8碼。</a:t>
            </a:r>
            <a:endParaRPr sz="2535"/>
          </a:p>
        </p:txBody>
      </p:sp>
      <p:sp>
        <p:nvSpPr>
          <p:cNvPr id="157" name="Google Shape;157;p16"/>
          <p:cNvSpPr txBox="1"/>
          <p:nvPr/>
        </p:nvSpPr>
        <p:spPr>
          <a:xfrm>
            <a:off x="1247775" y="2975375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密碼檢查：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非空、英數底線、8-16碼。</a:t>
            </a:r>
            <a:endParaRPr sz="2535"/>
          </a:p>
        </p:txBody>
      </p:sp>
      <p:sp>
        <p:nvSpPr>
          <p:cNvPr id="158" name="Google Shape;158;p16"/>
          <p:cNvSpPr txBox="1"/>
          <p:nvPr/>
        </p:nvSpPr>
        <p:spPr>
          <a:xfrm>
            <a:off x="1247775" y="3337325"/>
            <a:ext cx="461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安全：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僅能新增，需進行防呆檢查。</a:t>
            </a:r>
            <a:endParaRPr sz="2535"/>
          </a:p>
        </p:txBody>
      </p:sp>
      <p:pic>
        <p:nvPicPr>
          <p:cNvPr descr="image.png" id="159" name="Google Shape;15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16961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6724650" y="2613425"/>
            <a:ext cx="405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需驗證帳號與密碼正確性。</a:t>
            </a:r>
            <a:endParaRPr sz="2535"/>
          </a:p>
        </p:txBody>
      </p:sp>
      <p:sp>
        <p:nvSpPr>
          <p:cNvPr id="161" name="Google Shape;161;p16"/>
          <p:cNvSpPr txBox="1"/>
          <p:nvPr/>
        </p:nvSpPr>
        <p:spPr>
          <a:xfrm>
            <a:off x="6724650" y="2975375"/>
            <a:ext cx="44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提款與存款需更新 balance。</a:t>
            </a:r>
            <a:endParaRPr sz="2535"/>
          </a:p>
        </p:txBody>
      </p:sp>
      <p:sp>
        <p:nvSpPr>
          <p:cNvPr id="162" name="Google Shape;162;p16"/>
          <p:cNvSpPr txBox="1"/>
          <p:nvPr/>
        </p:nvSpPr>
        <p:spPr>
          <a:xfrm>
            <a:off x="6724650" y="3337325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回傳：帳號、交易金額、交易後餘額。</a:t>
            </a:r>
            <a:endParaRPr sz="2535"/>
          </a:p>
        </p:txBody>
      </p:sp>
      <p:pic>
        <p:nvPicPr>
          <p:cNvPr descr="image.png" id="163" name="Google Shape;16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42426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1247775" y="4868075"/>
            <a:ext cx="470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查詢餘額：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驗證帳密，回傳餘額 (Response 中密碼欄位不可有值)。</a:t>
            </a:r>
            <a:endParaRPr sz="2535"/>
          </a:p>
        </p:txBody>
      </p:sp>
      <p:sp>
        <p:nvSpPr>
          <p:cNvPr id="165" name="Google Shape;165;p16"/>
          <p:cNvSpPr txBox="1"/>
          <p:nvPr/>
        </p:nvSpPr>
        <p:spPr>
          <a:xfrm>
            <a:off x="1247775" y="5810062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修改密碼：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需驗證舊帳密，符合規則始可更新。</a:t>
            </a:r>
            <a:endParaRPr sz="2535"/>
          </a:p>
        </p:txBody>
      </p:sp>
      <p:pic>
        <p:nvPicPr>
          <p:cNvPr descr="image.png" id="166" name="Google Shape;16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4150" y="442426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6724650" y="4868071"/>
            <a:ext cx="441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Controller: AtmServiceController</a:t>
            </a:r>
            <a:endParaRPr sz="2535"/>
          </a:p>
        </p:txBody>
      </p:sp>
      <p:sp>
        <p:nvSpPr>
          <p:cNvPr id="168" name="Google Shape;168;p16"/>
          <p:cNvSpPr txBox="1"/>
          <p:nvPr/>
        </p:nvSpPr>
        <p:spPr>
          <a:xfrm>
            <a:off x="6724650" y="5400562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工具：使用 </a:t>
            </a: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Postman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進行 API 測試。</a:t>
            </a:r>
            <a:endParaRPr sz="2535"/>
          </a:p>
        </p:txBody>
      </p:sp>
      <p:sp>
        <p:nvSpPr>
          <p:cNvPr id="169" name="Google Shape;169;p16"/>
          <p:cNvSpPr txBox="1"/>
          <p:nvPr/>
        </p:nvSpPr>
        <p:spPr>
          <a:xfrm>
            <a:off x="6724650" y="5913085"/>
            <a:ext cx="461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包含 Request/Response 物件設計與 Status Code 處理。</a:t>
            </a:r>
            <a:endParaRPr sz="2535"/>
          </a:p>
        </p:txBody>
      </p:sp>
      <p:sp>
        <p:nvSpPr>
          <p:cNvPr id="170" name="Google Shape;170;p16"/>
          <p:cNvSpPr txBox="1"/>
          <p:nvPr/>
        </p:nvSpPr>
        <p:spPr>
          <a:xfrm>
            <a:off x="1057275" y="261342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71" name="Google Shape;171;p16"/>
          <p:cNvSpPr txBox="1"/>
          <p:nvPr/>
        </p:nvSpPr>
        <p:spPr>
          <a:xfrm>
            <a:off x="1057275" y="297537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72" name="Google Shape;172;p16"/>
          <p:cNvSpPr txBox="1"/>
          <p:nvPr/>
        </p:nvSpPr>
        <p:spPr>
          <a:xfrm>
            <a:off x="1057275" y="3358775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73" name="Google Shape;173;p16"/>
          <p:cNvSpPr txBox="1"/>
          <p:nvPr/>
        </p:nvSpPr>
        <p:spPr>
          <a:xfrm>
            <a:off x="6534150" y="261342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74" name="Google Shape;174;p16"/>
          <p:cNvSpPr txBox="1"/>
          <p:nvPr/>
        </p:nvSpPr>
        <p:spPr>
          <a:xfrm>
            <a:off x="6534150" y="297537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75" name="Google Shape;175;p16"/>
          <p:cNvSpPr txBox="1"/>
          <p:nvPr/>
        </p:nvSpPr>
        <p:spPr>
          <a:xfrm>
            <a:off x="6534150" y="333732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76" name="Google Shape;176;p16"/>
          <p:cNvSpPr txBox="1"/>
          <p:nvPr/>
        </p:nvSpPr>
        <p:spPr>
          <a:xfrm>
            <a:off x="1057275" y="4868071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77" name="Google Shape;177;p16"/>
          <p:cNvSpPr txBox="1"/>
          <p:nvPr/>
        </p:nvSpPr>
        <p:spPr>
          <a:xfrm>
            <a:off x="1057275" y="5803538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78" name="Google Shape;178;p16"/>
          <p:cNvSpPr txBox="1"/>
          <p:nvPr/>
        </p:nvSpPr>
        <p:spPr>
          <a:xfrm>
            <a:off x="6534150" y="4868071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79" name="Google Shape;179;p16"/>
          <p:cNvSpPr txBox="1"/>
          <p:nvPr/>
        </p:nvSpPr>
        <p:spPr>
          <a:xfrm>
            <a:off x="6534150" y="5382570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80" name="Google Shape;180;p16"/>
          <p:cNvSpPr txBox="1"/>
          <p:nvPr/>
        </p:nvSpPr>
        <p:spPr>
          <a:xfrm>
            <a:off x="6534150" y="5908878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181" name="Google Shape;181;p16"/>
          <p:cNvSpPr txBox="1"/>
          <p:nvPr/>
        </p:nvSpPr>
        <p:spPr>
          <a:xfrm>
            <a:off x="762000" y="571500"/>
            <a:ext cx="112014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9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ATM：業務邏輯與 API 規範</a:t>
            </a:r>
            <a:endParaRPr sz="5324"/>
          </a:p>
        </p:txBody>
      </p:sp>
      <p:sp>
        <p:nvSpPr>
          <p:cNvPr id="182" name="Google Shape;182;p16"/>
          <p:cNvSpPr/>
          <p:nvPr/>
        </p:nvSpPr>
        <p:spPr>
          <a:xfrm>
            <a:off x="762000" y="1354335"/>
            <a:ext cx="10668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3" name="Google Shape;18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build.gradle 設定(2)</a:t>
            </a:r>
            <a:endParaRPr sz="4563"/>
          </a:p>
        </p:txBody>
      </p:sp>
      <p:sp>
        <p:nvSpPr>
          <p:cNvPr id="185" name="Google Shape;185;p1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571500" y="1278049"/>
            <a:ext cx="9816900" cy="55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1F1F"/>
                </a:solidFill>
              </a:rPr>
              <a:t>dependencies {</a:t>
            </a:r>
            <a:br>
              <a:rPr lang="en-US" sz="1600">
                <a:solidFill>
                  <a:srgbClr val="1F1F1F"/>
                </a:solidFill>
              </a:rPr>
            </a:br>
            <a:r>
              <a:rPr lang="en-US" sz="1600">
                <a:solidFill>
                  <a:srgbClr val="1F1F1F"/>
                </a:solidFill>
              </a:rPr>
              <a:t>   </a:t>
            </a: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rgbClr val="808080"/>
                </a:solidFill>
              </a:rPr>
              <a:t>// [熱部署] 程式修改後自動重啟伺服器，提升開發效率</a:t>
            </a:r>
            <a:endParaRPr sz="1600">
              <a:solidFill>
                <a:srgbClr val="808080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	</a:t>
            </a:r>
            <a:r>
              <a:rPr lang="en-US" sz="1600">
                <a:solidFill>
                  <a:schemeClr val="dk1"/>
                </a:solidFill>
              </a:rPr>
              <a:t>developmentOnly </a:t>
            </a:r>
            <a:r>
              <a:rPr lang="en-US" sz="1600">
                <a:solidFill>
                  <a:srgbClr val="17C6A3"/>
                </a:solidFill>
              </a:rPr>
              <a:t>'org.springframework.boot:spring-boot-devtools'</a:t>
            </a:r>
            <a:endParaRPr sz="1600">
              <a:solidFill>
                <a:srgbClr val="17C6A3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</a:t>
            </a:r>
            <a:endParaRPr sz="1600">
              <a:solidFill>
                <a:srgbClr val="CCCCCC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rgbClr val="808080"/>
                </a:solidFill>
              </a:rPr>
              <a:t>// [MySQL 驅動] 程式執行時連結 MySQL 資料庫的驅動程式</a:t>
            </a:r>
            <a:endParaRPr sz="1600">
              <a:solidFill>
                <a:srgbClr val="808080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	</a:t>
            </a:r>
            <a:r>
              <a:rPr lang="en-US" sz="1600">
                <a:solidFill>
                  <a:schemeClr val="dk1"/>
                </a:solidFill>
              </a:rPr>
              <a:t>runtimeOnly </a:t>
            </a:r>
            <a:r>
              <a:rPr lang="en-US" sz="1600">
                <a:solidFill>
                  <a:srgbClr val="17C6A3"/>
                </a:solidFill>
              </a:rPr>
              <a:t>'com.mysql:mysql-connector-j'</a:t>
            </a:r>
            <a:endParaRPr sz="1600">
              <a:solidFill>
                <a:srgbClr val="17C6A3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</a:t>
            </a:r>
            <a:endParaRPr sz="1600">
              <a:solidFill>
                <a:srgbClr val="CCCCCC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rgbClr val="808080"/>
                </a:solidFill>
              </a:rPr>
              <a:t>// [JWT 實作] 執行時期所需的 JWT 加密與解析邏輯</a:t>
            </a:r>
            <a:endParaRPr sz="1600">
              <a:solidFill>
                <a:srgbClr val="808080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	</a:t>
            </a:r>
            <a:r>
              <a:rPr lang="en-US" sz="1600">
                <a:solidFill>
                  <a:schemeClr val="dk1"/>
                </a:solidFill>
              </a:rPr>
              <a:t>runtimeOnly </a:t>
            </a:r>
            <a:r>
              <a:rPr lang="en-US" sz="1600">
                <a:solidFill>
                  <a:srgbClr val="17C6A3"/>
                </a:solidFill>
              </a:rPr>
              <a:t>'io.jsonwebtoken:jjwt-impl:0.11.5'</a:t>
            </a:r>
            <a:endParaRPr sz="1600">
              <a:solidFill>
                <a:srgbClr val="17C6A3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chemeClr val="dk1"/>
                </a:solidFill>
              </a:rPr>
              <a:t>runtimeOnly </a:t>
            </a:r>
            <a:r>
              <a:rPr lang="en-US" sz="1600">
                <a:solidFill>
                  <a:srgbClr val="17C6A3"/>
                </a:solidFill>
              </a:rPr>
              <a:t>'io.jsonwebtoken:jjwt-jackson:0.11.5'</a:t>
            </a:r>
            <a:endParaRPr sz="1600">
              <a:solidFill>
                <a:srgbClr val="17C6A3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</a:t>
            </a:r>
            <a:endParaRPr sz="1600">
              <a:solidFill>
                <a:srgbClr val="CCCCCC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rgbClr val="808080"/>
                </a:solidFill>
              </a:rPr>
              <a:t>// [Lombok 處理器] 讓編譯器能識別 Lombok 註解並產生代碼</a:t>
            </a:r>
            <a:endParaRPr sz="1600">
              <a:solidFill>
                <a:srgbClr val="808080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	</a:t>
            </a:r>
            <a:r>
              <a:rPr lang="en-US" sz="1600">
                <a:solidFill>
                  <a:schemeClr val="dk1"/>
                </a:solidFill>
              </a:rPr>
              <a:t>annotationProcessor </a:t>
            </a:r>
            <a:r>
              <a:rPr lang="en-US" sz="1600">
                <a:solidFill>
                  <a:srgbClr val="17C6A3"/>
                </a:solidFill>
              </a:rPr>
              <a:t>'org.projectlombok:lombok'</a:t>
            </a:r>
            <a:endParaRPr sz="1600">
              <a:solidFill>
                <a:srgbClr val="17C6A3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</a:t>
            </a:r>
            <a:endParaRPr sz="1600">
              <a:solidFill>
                <a:srgbClr val="CCCCCC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rgbClr val="808080"/>
                </a:solidFill>
              </a:rPr>
              <a:t>// [單元測試] 提供測試框架與 Security 測試支援</a:t>
            </a:r>
            <a:endParaRPr sz="1600">
              <a:solidFill>
                <a:srgbClr val="808080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	</a:t>
            </a:r>
            <a:r>
              <a:rPr lang="en-US" sz="1600">
                <a:solidFill>
                  <a:schemeClr val="dk1"/>
                </a:solidFill>
              </a:rPr>
              <a:t>testImplementation </a:t>
            </a:r>
            <a:r>
              <a:rPr lang="en-US" sz="1600">
                <a:solidFill>
                  <a:srgbClr val="17C6A3"/>
                </a:solidFill>
              </a:rPr>
              <a:t>'org.springframework.boot:spring-boot-starter-test'</a:t>
            </a:r>
            <a:endParaRPr sz="1600">
              <a:solidFill>
                <a:srgbClr val="17C6A3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CCCC"/>
                </a:solidFill>
              </a:rPr>
              <a:t>   </a:t>
            </a:r>
            <a:r>
              <a:rPr lang="en-US" sz="1600">
                <a:solidFill>
                  <a:schemeClr val="dk1"/>
                </a:solidFill>
              </a:rPr>
              <a:t>testImplementation </a:t>
            </a:r>
            <a:r>
              <a:rPr lang="en-US" sz="1600">
                <a:solidFill>
                  <a:srgbClr val="17C6A3"/>
                </a:solidFill>
              </a:rPr>
              <a:t>'org.springframework.security:spring-security-test'</a:t>
            </a:r>
            <a:endParaRPr sz="1600">
              <a:solidFill>
                <a:srgbClr val="17C6A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1F1F"/>
                </a:solidFill>
              </a:rPr>
              <a:t>}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40102"/>
            <a:ext cx="5191125" cy="202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840102"/>
            <a:ext cx="5191125" cy="202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4094760"/>
            <a:ext cx="5191125" cy="241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1290207" y="2087750"/>
            <a:ext cx="34770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新增資訊 (addInfo)</a:t>
            </a:r>
            <a:endParaRPr sz="2789"/>
          </a:p>
        </p:txBody>
      </p:sp>
      <p:pic>
        <p:nvPicPr>
          <p:cNvPr descr="image.png" id="196" name="Google Shape;19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61235"/>
            <a:ext cx="5191125" cy="241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6767078" y="2087750"/>
            <a:ext cx="4127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交易功能 (Deposit/Withdraw)</a:t>
            </a:r>
            <a:endParaRPr sz="2789"/>
          </a:p>
        </p:txBody>
      </p:sp>
      <p:sp>
        <p:nvSpPr>
          <p:cNvPr id="198" name="Google Shape;198;p17"/>
          <p:cNvSpPr txBox="1"/>
          <p:nvPr/>
        </p:nvSpPr>
        <p:spPr>
          <a:xfrm>
            <a:off x="1290213" y="4342400"/>
            <a:ext cx="272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密碼與查詢</a:t>
            </a:r>
            <a:endParaRPr sz="2789"/>
          </a:p>
        </p:txBody>
      </p:sp>
      <p:sp>
        <p:nvSpPr>
          <p:cNvPr id="199" name="Google Shape;199;p17"/>
          <p:cNvSpPr txBox="1"/>
          <p:nvPr/>
        </p:nvSpPr>
        <p:spPr>
          <a:xfrm>
            <a:off x="6767089" y="4342400"/>
            <a:ext cx="290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API 與測試</a:t>
            </a:r>
            <a:endParaRPr sz="2789"/>
          </a:p>
        </p:txBody>
      </p:sp>
      <p:pic>
        <p:nvPicPr>
          <p:cNvPr descr="image.png" id="200" name="Google Shape;20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16961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1247775" y="2613425"/>
            <a:ext cx="461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帳號檢查：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非空、英數底線、3-8碼。</a:t>
            </a:r>
            <a:endParaRPr sz="2535"/>
          </a:p>
        </p:txBody>
      </p:sp>
      <p:sp>
        <p:nvSpPr>
          <p:cNvPr id="202" name="Google Shape;202;p17"/>
          <p:cNvSpPr txBox="1"/>
          <p:nvPr/>
        </p:nvSpPr>
        <p:spPr>
          <a:xfrm>
            <a:off x="1247775" y="2975375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密碼檢查：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非空、英數底線、8-16碼。</a:t>
            </a:r>
            <a:endParaRPr sz="2535"/>
          </a:p>
        </p:txBody>
      </p:sp>
      <p:sp>
        <p:nvSpPr>
          <p:cNvPr id="203" name="Google Shape;203;p17"/>
          <p:cNvSpPr txBox="1"/>
          <p:nvPr/>
        </p:nvSpPr>
        <p:spPr>
          <a:xfrm>
            <a:off x="1247775" y="3337325"/>
            <a:ext cx="461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安全：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僅能新增，需進行防呆檢查。</a:t>
            </a:r>
            <a:endParaRPr sz="2535"/>
          </a:p>
        </p:txBody>
      </p:sp>
      <p:pic>
        <p:nvPicPr>
          <p:cNvPr descr="image.png" id="204" name="Google Shape;20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16961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7"/>
          <p:cNvSpPr txBox="1"/>
          <p:nvPr/>
        </p:nvSpPr>
        <p:spPr>
          <a:xfrm>
            <a:off x="6724650" y="2613425"/>
            <a:ext cx="405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需驗證帳號與密碼正確性。</a:t>
            </a:r>
            <a:endParaRPr sz="2535"/>
          </a:p>
        </p:txBody>
      </p:sp>
      <p:sp>
        <p:nvSpPr>
          <p:cNvPr id="206" name="Google Shape;206;p17"/>
          <p:cNvSpPr txBox="1"/>
          <p:nvPr/>
        </p:nvSpPr>
        <p:spPr>
          <a:xfrm>
            <a:off x="6724650" y="2975375"/>
            <a:ext cx="44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提款與存款需更新 balance。</a:t>
            </a:r>
            <a:endParaRPr sz="2535"/>
          </a:p>
        </p:txBody>
      </p:sp>
      <p:sp>
        <p:nvSpPr>
          <p:cNvPr id="207" name="Google Shape;207;p17"/>
          <p:cNvSpPr txBox="1"/>
          <p:nvPr/>
        </p:nvSpPr>
        <p:spPr>
          <a:xfrm>
            <a:off x="6724650" y="3337325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回傳：帳號、交易金額、交易後餘額。</a:t>
            </a:r>
            <a:endParaRPr sz="2535"/>
          </a:p>
        </p:txBody>
      </p:sp>
      <p:pic>
        <p:nvPicPr>
          <p:cNvPr descr="image.png" id="208" name="Google Shape;20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42426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1247775" y="4868075"/>
            <a:ext cx="470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查詢餘額：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驗證帳密，回傳餘額 (Response 中密碼欄位不可有值)。</a:t>
            </a:r>
            <a:endParaRPr sz="2535"/>
          </a:p>
        </p:txBody>
      </p:sp>
      <p:sp>
        <p:nvSpPr>
          <p:cNvPr id="210" name="Google Shape;210;p17"/>
          <p:cNvSpPr txBox="1"/>
          <p:nvPr/>
        </p:nvSpPr>
        <p:spPr>
          <a:xfrm>
            <a:off x="1247775" y="5810062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修改密碼：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需驗證舊帳密，符合規則始可更新。</a:t>
            </a:r>
            <a:endParaRPr sz="2535"/>
          </a:p>
        </p:txBody>
      </p:sp>
      <p:pic>
        <p:nvPicPr>
          <p:cNvPr descr="image.png" id="211" name="Google Shape;21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4150" y="442426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6724650" y="4868071"/>
            <a:ext cx="441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Controller: AtmServiceController</a:t>
            </a:r>
            <a:endParaRPr sz="2535"/>
          </a:p>
        </p:txBody>
      </p:sp>
      <p:sp>
        <p:nvSpPr>
          <p:cNvPr id="213" name="Google Shape;213;p17"/>
          <p:cNvSpPr txBox="1"/>
          <p:nvPr/>
        </p:nvSpPr>
        <p:spPr>
          <a:xfrm>
            <a:off x="6724650" y="5400562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工具：使用 </a:t>
            </a: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Postman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進行 API 測試。</a:t>
            </a:r>
            <a:endParaRPr sz="2535"/>
          </a:p>
        </p:txBody>
      </p:sp>
      <p:sp>
        <p:nvSpPr>
          <p:cNvPr id="214" name="Google Shape;214;p17"/>
          <p:cNvSpPr txBox="1"/>
          <p:nvPr/>
        </p:nvSpPr>
        <p:spPr>
          <a:xfrm>
            <a:off x="6724650" y="5913085"/>
            <a:ext cx="461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包含 Request/Response 物件設計與 Status Code 處理。</a:t>
            </a:r>
            <a:endParaRPr sz="2535"/>
          </a:p>
        </p:txBody>
      </p:sp>
      <p:sp>
        <p:nvSpPr>
          <p:cNvPr id="215" name="Google Shape;215;p17"/>
          <p:cNvSpPr txBox="1"/>
          <p:nvPr/>
        </p:nvSpPr>
        <p:spPr>
          <a:xfrm>
            <a:off x="1057275" y="261342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16" name="Google Shape;216;p17"/>
          <p:cNvSpPr txBox="1"/>
          <p:nvPr/>
        </p:nvSpPr>
        <p:spPr>
          <a:xfrm>
            <a:off x="1057275" y="297537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17" name="Google Shape;217;p17"/>
          <p:cNvSpPr txBox="1"/>
          <p:nvPr/>
        </p:nvSpPr>
        <p:spPr>
          <a:xfrm>
            <a:off x="1057275" y="3358775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18" name="Google Shape;218;p17"/>
          <p:cNvSpPr txBox="1"/>
          <p:nvPr/>
        </p:nvSpPr>
        <p:spPr>
          <a:xfrm>
            <a:off x="6534150" y="261342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19" name="Google Shape;219;p17"/>
          <p:cNvSpPr txBox="1"/>
          <p:nvPr/>
        </p:nvSpPr>
        <p:spPr>
          <a:xfrm>
            <a:off x="6534150" y="297537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20" name="Google Shape;220;p17"/>
          <p:cNvSpPr txBox="1"/>
          <p:nvPr/>
        </p:nvSpPr>
        <p:spPr>
          <a:xfrm>
            <a:off x="6534150" y="333732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21" name="Google Shape;221;p17"/>
          <p:cNvSpPr txBox="1"/>
          <p:nvPr/>
        </p:nvSpPr>
        <p:spPr>
          <a:xfrm>
            <a:off x="1057275" y="4868071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22" name="Google Shape;222;p17"/>
          <p:cNvSpPr txBox="1"/>
          <p:nvPr/>
        </p:nvSpPr>
        <p:spPr>
          <a:xfrm>
            <a:off x="1057275" y="5803538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23" name="Google Shape;223;p17"/>
          <p:cNvSpPr txBox="1"/>
          <p:nvPr/>
        </p:nvSpPr>
        <p:spPr>
          <a:xfrm>
            <a:off x="6534150" y="4868071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24" name="Google Shape;224;p17"/>
          <p:cNvSpPr txBox="1"/>
          <p:nvPr/>
        </p:nvSpPr>
        <p:spPr>
          <a:xfrm>
            <a:off x="6534150" y="5382570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25" name="Google Shape;225;p17"/>
          <p:cNvSpPr txBox="1"/>
          <p:nvPr/>
        </p:nvSpPr>
        <p:spPr>
          <a:xfrm>
            <a:off x="6534150" y="5908878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26" name="Google Shape;226;p17"/>
          <p:cNvSpPr txBox="1"/>
          <p:nvPr/>
        </p:nvSpPr>
        <p:spPr>
          <a:xfrm>
            <a:off x="762000" y="571500"/>
            <a:ext cx="112014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9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ATM：業務邏輯與 API 規範</a:t>
            </a:r>
            <a:endParaRPr sz="5324"/>
          </a:p>
        </p:txBody>
      </p:sp>
      <p:sp>
        <p:nvSpPr>
          <p:cNvPr id="227" name="Google Shape;227;p17"/>
          <p:cNvSpPr/>
          <p:nvPr/>
        </p:nvSpPr>
        <p:spPr>
          <a:xfrm>
            <a:off x="762000" y="1354335"/>
            <a:ext cx="10668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8" name="Google Shape;22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7"/>
          <p:cNvSpPr txBox="1"/>
          <p:nvPr/>
        </p:nvSpPr>
        <p:spPr>
          <a:xfrm>
            <a:off x="571500" y="337675"/>
            <a:ext cx="81573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application.properties</a:t>
            </a: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設定</a:t>
            </a:r>
            <a:endParaRPr sz="4563"/>
          </a:p>
        </p:txBody>
      </p:sp>
      <p:sp>
        <p:nvSpPr>
          <p:cNvPr id="230" name="Google Shape;230;p1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571500" y="1296012"/>
            <a:ext cx="11391900" cy="496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# Database Configuration (MySQL)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spring.datasource.url=jdbc:mysql://localhost:3306/dynamic_survey?useSSL=false&amp;serverTimezone=UTC&amp;allowPublicKeyRetrieval=true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spring.datasource.username=root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spring.datasource.password=root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spring.datasource.driver-class-name=com.mysql.cj.jdbc.Driver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# JPA / Hibernate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spring.jpa.hibernate.ddl-auto=update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spring.jpa.show-sql=true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spring.jpa.properties.hibernate.format_sql=true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spring.jpa.properties.hibernate.dialect=org.hibernate.dialect.MySQLDialect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# Logging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logging.level.org.springframework.web=INFO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logging.level.com.example.dynamicsurvey=DEBUG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# JWT Configuration (Secret should be stored securely in prod)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jwt.secret=vW9mK2v6yB?E(G+KbPeShVmYq3t6w9z$C&amp;E)H@McQfTjWnZr4u7x!A%D*G-KaPdS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1F1F"/>
                </a:solidFill>
              </a:rPr>
              <a:t>jwt.expiration=86400000</a:t>
            </a:r>
            <a:endParaRPr sz="16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40102"/>
            <a:ext cx="5191125" cy="202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840102"/>
            <a:ext cx="5191125" cy="202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4094760"/>
            <a:ext cx="5191125" cy="241161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8"/>
          <p:cNvSpPr txBox="1"/>
          <p:nvPr/>
        </p:nvSpPr>
        <p:spPr>
          <a:xfrm>
            <a:off x="1290207" y="2087750"/>
            <a:ext cx="34770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新增資訊 (addInfo)</a:t>
            </a:r>
            <a:endParaRPr sz="2789"/>
          </a:p>
        </p:txBody>
      </p:sp>
      <p:pic>
        <p:nvPicPr>
          <p:cNvPr descr="image.png" id="241" name="Google Shape;24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61235"/>
            <a:ext cx="5191125" cy="241161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8"/>
          <p:cNvSpPr txBox="1"/>
          <p:nvPr/>
        </p:nvSpPr>
        <p:spPr>
          <a:xfrm>
            <a:off x="6767078" y="2087750"/>
            <a:ext cx="4127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交易功能 (Deposit/Withdraw)</a:t>
            </a:r>
            <a:endParaRPr sz="2789"/>
          </a:p>
        </p:txBody>
      </p:sp>
      <p:sp>
        <p:nvSpPr>
          <p:cNvPr id="243" name="Google Shape;243;p18"/>
          <p:cNvSpPr txBox="1"/>
          <p:nvPr/>
        </p:nvSpPr>
        <p:spPr>
          <a:xfrm>
            <a:off x="1290213" y="4342400"/>
            <a:ext cx="272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密碼與查詢</a:t>
            </a:r>
            <a:endParaRPr sz="2789"/>
          </a:p>
        </p:txBody>
      </p:sp>
      <p:sp>
        <p:nvSpPr>
          <p:cNvPr id="244" name="Google Shape;244;p18"/>
          <p:cNvSpPr txBox="1"/>
          <p:nvPr/>
        </p:nvSpPr>
        <p:spPr>
          <a:xfrm>
            <a:off x="6767089" y="4342400"/>
            <a:ext cx="290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API 與測試</a:t>
            </a:r>
            <a:endParaRPr sz="2789"/>
          </a:p>
        </p:txBody>
      </p:sp>
      <p:pic>
        <p:nvPicPr>
          <p:cNvPr descr="image.png" id="245" name="Google Shape;24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16961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8"/>
          <p:cNvSpPr txBox="1"/>
          <p:nvPr/>
        </p:nvSpPr>
        <p:spPr>
          <a:xfrm>
            <a:off x="1247775" y="2613425"/>
            <a:ext cx="461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帳號檢查：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非空、英數底線、3-8碼。</a:t>
            </a:r>
            <a:endParaRPr sz="2535"/>
          </a:p>
        </p:txBody>
      </p:sp>
      <p:sp>
        <p:nvSpPr>
          <p:cNvPr id="247" name="Google Shape;247;p18"/>
          <p:cNvSpPr txBox="1"/>
          <p:nvPr/>
        </p:nvSpPr>
        <p:spPr>
          <a:xfrm>
            <a:off x="1247775" y="2975375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密碼檢查：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非空、英數底線、8-16碼。</a:t>
            </a:r>
            <a:endParaRPr sz="2535"/>
          </a:p>
        </p:txBody>
      </p:sp>
      <p:sp>
        <p:nvSpPr>
          <p:cNvPr id="248" name="Google Shape;248;p18"/>
          <p:cNvSpPr txBox="1"/>
          <p:nvPr/>
        </p:nvSpPr>
        <p:spPr>
          <a:xfrm>
            <a:off x="1247775" y="3337325"/>
            <a:ext cx="461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安全：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僅能新增，需進行防呆檢查。</a:t>
            </a:r>
            <a:endParaRPr sz="2535"/>
          </a:p>
        </p:txBody>
      </p:sp>
      <p:pic>
        <p:nvPicPr>
          <p:cNvPr descr="image.png" id="249" name="Google Shape;24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16961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8"/>
          <p:cNvSpPr txBox="1"/>
          <p:nvPr/>
        </p:nvSpPr>
        <p:spPr>
          <a:xfrm>
            <a:off x="6724650" y="2613425"/>
            <a:ext cx="405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需驗證帳號與密碼正確性。</a:t>
            </a:r>
            <a:endParaRPr sz="2535"/>
          </a:p>
        </p:txBody>
      </p:sp>
      <p:sp>
        <p:nvSpPr>
          <p:cNvPr id="251" name="Google Shape;251;p18"/>
          <p:cNvSpPr txBox="1"/>
          <p:nvPr/>
        </p:nvSpPr>
        <p:spPr>
          <a:xfrm>
            <a:off x="6724650" y="2975375"/>
            <a:ext cx="44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提款與存款需更新 balance。</a:t>
            </a:r>
            <a:endParaRPr sz="2535"/>
          </a:p>
        </p:txBody>
      </p:sp>
      <p:sp>
        <p:nvSpPr>
          <p:cNvPr id="252" name="Google Shape;252;p18"/>
          <p:cNvSpPr txBox="1"/>
          <p:nvPr/>
        </p:nvSpPr>
        <p:spPr>
          <a:xfrm>
            <a:off x="6724650" y="3337325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回傳：帳號、交易金額、交易後餘額。</a:t>
            </a:r>
            <a:endParaRPr sz="2535"/>
          </a:p>
        </p:txBody>
      </p:sp>
      <p:pic>
        <p:nvPicPr>
          <p:cNvPr descr="image.png" id="253" name="Google Shape;25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42426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 txBox="1"/>
          <p:nvPr/>
        </p:nvSpPr>
        <p:spPr>
          <a:xfrm>
            <a:off x="1247775" y="4868075"/>
            <a:ext cx="470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查詢餘額：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驗證帳密，回傳餘額 (Response 中密碼欄位不可有值)。</a:t>
            </a:r>
            <a:endParaRPr sz="2535"/>
          </a:p>
        </p:txBody>
      </p:sp>
      <p:sp>
        <p:nvSpPr>
          <p:cNvPr id="255" name="Google Shape;255;p18"/>
          <p:cNvSpPr txBox="1"/>
          <p:nvPr/>
        </p:nvSpPr>
        <p:spPr>
          <a:xfrm>
            <a:off x="1247775" y="5810062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修改密碼：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需驗證舊帳密，符合規則始可更新。</a:t>
            </a:r>
            <a:endParaRPr sz="2535"/>
          </a:p>
        </p:txBody>
      </p:sp>
      <p:pic>
        <p:nvPicPr>
          <p:cNvPr descr="image.png" id="256" name="Google Shape;256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4150" y="4424266"/>
            <a:ext cx="13766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8"/>
          <p:cNvSpPr txBox="1"/>
          <p:nvPr/>
        </p:nvSpPr>
        <p:spPr>
          <a:xfrm>
            <a:off x="6724650" y="4868071"/>
            <a:ext cx="441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Controller: AtmServiceController</a:t>
            </a:r>
            <a:endParaRPr sz="2535"/>
          </a:p>
        </p:txBody>
      </p:sp>
      <p:sp>
        <p:nvSpPr>
          <p:cNvPr id="258" name="Google Shape;258;p18"/>
          <p:cNvSpPr txBox="1"/>
          <p:nvPr/>
        </p:nvSpPr>
        <p:spPr>
          <a:xfrm>
            <a:off x="6724650" y="5400562"/>
            <a:ext cx="470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工具：使用 </a:t>
            </a:r>
            <a:r>
              <a:rPr b="1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Postman</a:t>
            </a: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進行 API 測試。</a:t>
            </a:r>
            <a:endParaRPr sz="2535"/>
          </a:p>
        </p:txBody>
      </p:sp>
      <p:sp>
        <p:nvSpPr>
          <p:cNvPr id="259" name="Google Shape;259;p18"/>
          <p:cNvSpPr txBox="1"/>
          <p:nvPr/>
        </p:nvSpPr>
        <p:spPr>
          <a:xfrm>
            <a:off x="6724650" y="5913085"/>
            <a:ext cx="461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包含 Request/Response 物件設計與 Status Code 處理。</a:t>
            </a:r>
            <a:endParaRPr sz="2535"/>
          </a:p>
        </p:txBody>
      </p:sp>
      <p:sp>
        <p:nvSpPr>
          <p:cNvPr id="260" name="Google Shape;260;p18"/>
          <p:cNvSpPr txBox="1"/>
          <p:nvPr/>
        </p:nvSpPr>
        <p:spPr>
          <a:xfrm>
            <a:off x="1057275" y="261342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61" name="Google Shape;261;p18"/>
          <p:cNvSpPr txBox="1"/>
          <p:nvPr/>
        </p:nvSpPr>
        <p:spPr>
          <a:xfrm>
            <a:off x="1057275" y="297537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62" name="Google Shape;262;p18"/>
          <p:cNvSpPr txBox="1"/>
          <p:nvPr/>
        </p:nvSpPr>
        <p:spPr>
          <a:xfrm>
            <a:off x="1057275" y="3358775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63" name="Google Shape;263;p18"/>
          <p:cNvSpPr txBox="1"/>
          <p:nvPr/>
        </p:nvSpPr>
        <p:spPr>
          <a:xfrm>
            <a:off x="6534150" y="261342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64" name="Google Shape;264;p18"/>
          <p:cNvSpPr txBox="1"/>
          <p:nvPr/>
        </p:nvSpPr>
        <p:spPr>
          <a:xfrm>
            <a:off x="6534150" y="297537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65" name="Google Shape;265;p18"/>
          <p:cNvSpPr txBox="1"/>
          <p:nvPr/>
        </p:nvSpPr>
        <p:spPr>
          <a:xfrm>
            <a:off x="6534150" y="3337321"/>
            <a:ext cx="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66" name="Google Shape;266;p18"/>
          <p:cNvSpPr txBox="1"/>
          <p:nvPr/>
        </p:nvSpPr>
        <p:spPr>
          <a:xfrm>
            <a:off x="1057275" y="4868071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67" name="Google Shape;267;p18"/>
          <p:cNvSpPr txBox="1"/>
          <p:nvPr/>
        </p:nvSpPr>
        <p:spPr>
          <a:xfrm>
            <a:off x="1057275" y="5803538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68" name="Google Shape;268;p18"/>
          <p:cNvSpPr txBox="1"/>
          <p:nvPr/>
        </p:nvSpPr>
        <p:spPr>
          <a:xfrm>
            <a:off x="6534150" y="4868071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69" name="Google Shape;269;p18"/>
          <p:cNvSpPr txBox="1"/>
          <p:nvPr/>
        </p:nvSpPr>
        <p:spPr>
          <a:xfrm>
            <a:off x="6534150" y="5382570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70" name="Google Shape;270;p18"/>
          <p:cNvSpPr txBox="1"/>
          <p:nvPr/>
        </p:nvSpPr>
        <p:spPr>
          <a:xfrm>
            <a:off x="6534150" y="5908878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3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2535"/>
          </a:p>
        </p:txBody>
      </p:sp>
      <p:sp>
        <p:nvSpPr>
          <p:cNvPr id="271" name="Google Shape;271;p18"/>
          <p:cNvSpPr txBox="1"/>
          <p:nvPr/>
        </p:nvSpPr>
        <p:spPr>
          <a:xfrm>
            <a:off x="762000" y="571500"/>
            <a:ext cx="112014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95" u="none" cap="none" strike="noStrike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ATM：業務邏輯與 API 規範</a:t>
            </a:r>
            <a:endParaRPr sz="5324"/>
          </a:p>
        </p:txBody>
      </p:sp>
      <p:sp>
        <p:nvSpPr>
          <p:cNvPr id="272" name="Google Shape;272;p18"/>
          <p:cNvSpPr/>
          <p:nvPr/>
        </p:nvSpPr>
        <p:spPr>
          <a:xfrm>
            <a:off x="762000" y="1354335"/>
            <a:ext cx="10668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3" name="Google Shape;273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8"/>
          <p:cNvSpPr txBox="1"/>
          <p:nvPr/>
        </p:nvSpPr>
        <p:spPr>
          <a:xfrm>
            <a:off x="571500" y="337675"/>
            <a:ext cx="81573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config - SecurityConfig</a:t>
            </a:r>
            <a:endParaRPr sz="4563"/>
          </a:p>
        </p:txBody>
      </p:sp>
      <p:sp>
        <p:nvSpPr>
          <p:cNvPr id="275" name="Google Shape;275;p1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 txBox="1"/>
          <p:nvPr/>
        </p:nvSpPr>
        <p:spPr>
          <a:xfrm>
            <a:off x="571500" y="1296012"/>
            <a:ext cx="11391900" cy="496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46464"/>
                </a:solidFill>
                <a:highlight>
                  <a:srgbClr val="FFFFFF"/>
                </a:highlight>
              </a:rPr>
              <a:t>@</a:t>
            </a:r>
            <a:r>
              <a:rPr lang="en-US" sz="1600">
                <a:solidFill>
                  <a:srgbClr val="646464"/>
                </a:solidFill>
                <a:highlight>
                  <a:srgbClr val="D4D4D4"/>
                </a:highlight>
              </a:rPr>
              <a:t>Configuration</a:t>
            </a:r>
            <a:endParaRPr sz="1600">
              <a:solidFill>
                <a:srgbClr val="646464"/>
              </a:solidFill>
              <a:highlight>
                <a:srgbClr val="D4D4D4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46464"/>
                </a:solidFill>
                <a:highlight>
                  <a:srgbClr val="FFFFFF"/>
                </a:highlight>
              </a:rPr>
              <a:t>@EnableWebSecurity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-US" sz="1600">
                <a:solidFill>
                  <a:srgbClr val="3F7F5F"/>
                </a:solidFill>
                <a:highlight>
                  <a:srgbClr val="FFFFFF"/>
                </a:highlight>
              </a:rPr>
              <a:t>// 開啟 Web 安全功能</a:t>
            </a:r>
            <a:endParaRPr sz="16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en-US" sz="1600">
                <a:solidFill>
                  <a:srgbClr val="7F0055"/>
                </a:solidFill>
                <a:highlight>
                  <a:srgbClr val="FFFFFF"/>
                </a:highlight>
              </a:rPr>
              <a:t>class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SecurityConfig {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en-US" sz="1600">
                <a:solidFill>
                  <a:srgbClr val="646464"/>
                </a:solidFill>
                <a:highlight>
                  <a:srgbClr val="FFFFFF"/>
                </a:highlight>
              </a:rPr>
              <a:t>@Bean</a:t>
            </a:r>
            <a:endParaRPr sz="1600">
              <a:solidFill>
                <a:srgbClr val="646464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en-US" sz="1600" u="sng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SecurityFilterChain filterChain(HttpSecurity </a:t>
            </a:r>
            <a:r>
              <a:rPr lang="en-US" sz="1600">
                <a:solidFill>
                  <a:srgbClr val="6A3E3E"/>
                </a:solidFill>
                <a:highlight>
                  <a:srgbClr val="FFFFFF"/>
                </a:highlight>
              </a:rPr>
              <a:t>http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) </a:t>
            </a:r>
            <a:r>
              <a:rPr b="1" lang="en-US" sz="1600">
                <a:solidFill>
                  <a:srgbClr val="7F0055"/>
                </a:solidFill>
                <a:highlight>
                  <a:srgbClr val="FFFFFF"/>
                </a:highlight>
              </a:rPr>
              <a:t>throws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Exception {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en-US" sz="1600">
                <a:solidFill>
                  <a:srgbClr val="6A3E3E"/>
                </a:solidFill>
                <a:highlight>
                  <a:srgbClr val="FFFFFF"/>
                </a:highlight>
              </a:rPr>
              <a:t>http</a:t>
            </a:r>
            <a:endParaRPr sz="1600">
              <a:solidFill>
                <a:srgbClr val="6A3E3E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          .csrf(</a:t>
            </a:r>
            <a:r>
              <a:rPr lang="en-US" sz="1600">
                <a:solidFill>
                  <a:srgbClr val="6A3E3E"/>
                </a:solidFill>
                <a:highlight>
                  <a:srgbClr val="FFFFFF"/>
                </a:highlight>
              </a:rPr>
              <a:t>csrf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-&gt; </a:t>
            </a:r>
            <a:r>
              <a:rPr lang="en-US" sz="1600">
                <a:solidFill>
                  <a:srgbClr val="6A3E3E"/>
                </a:solidFill>
                <a:highlight>
                  <a:srgbClr val="FFFFFF"/>
                </a:highlight>
              </a:rPr>
              <a:t>csrf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.disable())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          .authorizeHttpRequests(</a:t>
            </a:r>
            <a:r>
              <a:rPr lang="en-US" sz="1600">
                <a:solidFill>
                  <a:srgbClr val="6A3E3E"/>
                </a:solidFill>
                <a:highlight>
                  <a:srgbClr val="FFFFFF"/>
                </a:highlight>
              </a:rPr>
              <a:t>auth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-&gt; </a:t>
            </a:r>
            <a:r>
              <a:rPr lang="en-US" sz="1600">
                <a:solidFill>
                  <a:srgbClr val="6A3E3E"/>
                </a:solidFill>
                <a:highlight>
                  <a:srgbClr val="FFFFFF"/>
                </a:highlight>
              </a:rPr>
              <a:t>auth</a:t>
            </a:r>
            <a:endParaRPr sz="1600">
              <a:solidFill>
                <a:srgbClr val="6A3E3E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              .anyRequest().permitAll() </a:t>
            </a:r>
            <a:r>
              <a:rPr lang="en-US" sz="1600">
                <a:solidFill>
                  <a:srgbClr val="3F7F5F"/>
                </a:solidFill>
                <a:highlight>
                  <a:srgbClr val="FFFFFF"/>
                </a:highlight>
              </a:rPr>
              <a:t>// 這裡定義了不需要登入</a:t>
            </a:r>
            <a:endParaRPr sz="16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          );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en-US" sz="16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-US" sz="1600">
                <a:solidFill>
                  <a:srgbClr val="6A3E3E"/>
                </a:solidFill>
                <a:highlight>
                  <a:srgbClr val="FFFFFF"/>
                </a:highlight>
              </a:rPr>
              <a:t>http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.build(); </a:t>
            </a:r>
            <a:r>
              <a:rPr lang="en-US" sz="1600">
                <a:solidFill>
                  <a:srgbClr val="3F7F5F"/>
                </a:solidFill>
                <a:highlight>
                  <a:srgbClr val="FFFFFF"/>
                </a:highlight>
              </a:rPr>
              <a:t>// Spring 會自動拿到這個回傳的物件並使用它</a:t>
            </a:r>
            <a:endParaRPr sz="16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en-US" sz="1600">
                <a:solidFill>
                  <a:srgbClr val="646464"/>
                </a:solidFill>
                <a:highlight>
                  <a:srgbClr val="FFFFFF"/>
                </a:highlight>
              </a:rPr>
              <a:t>@Bean</a:t>
            </a:r>
            <a:endParaRPr sz="1600">
              <a:solidFill>
                <a:srgbClr val="646464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en-US" sz="1600" u="sng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BCryptPasswordEncoder passwordEncoder() {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en-US" sz="16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en-US" sz="16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BCryptPasswordEncoder();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sz="16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V</a:t>
            </a: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O - 狀態碼 Enum</a:t>
            </a:r>
            <a:endParaRPr sz="4563"/>
          </a:p>
        </p:txBody>
      </p:sp>
      <p:sp>
        <p:nvSpPr>
          <p:cNvPr id="283" name="Google Shape;283;p19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RspCode.java</a:t>
            </a:r>
            <a:endParaRPr sz="3000"/>
          </a:p>
        </p:txBody>
      </p:sp>
      <p:sp>
        <p:nvSpPr>
          <p:cNvPr id="284" name="Google Shape;284;p1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0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V</a:t>
            </a: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O - 統一回應物件</a:t>
            </a:r>
            <a:endParaRPr sz="4563"/>
          </a:p>
        </p:txBody>
      </p:sp>
      <p:sp>
        <p:nvSpPr>
          <p:cNvPr id="291" name="Google Shape;291;p20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AppResponse.java</a:t>
            </a:r>
            <a:endParaRPr sz="3000"/>
          </a:p>
        </p:txBody>
      </p:sp>
      <p:sp>
        <p:nvSpPr>
          <p:cNvPr id="292" name="Google Shape;292;p20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52500"/>
            <a:ext cx="9906000" cy="47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1"/>
          <p:cNvSpPr txBox="1"/>
          <p:nvPr/>
        </p:nvSpPr>
        <p:spPr>
          <a:xfrm>
            <a:off x="1143001" y="3026508"/>
            <a:ext cx="9906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新增&amp;修改問卷</a:t>
            </a:r>
            <a:endParaRPr sz="8112"/>
          </a:p>
        </p:txBody>
      </p:sp>
      <p:sp>
        <p:nvSpPr>
          <p:cNvPr id="300" name="Google Shape;300;p21"/>
          <p:cNvSpPr/>
          <p:nvPr/>
        </p:nvSpPr>
        <p:spPr>
          <a:xfrm>
            <a:off x="5619750" y="4287522"/>
            <a:ext cx="952500" cy="38100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305" name="Google Shape;3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Repository</a:t>
            </a:r>
            <a:endParaRPr sz="4563"/>
          </a:p>
        </p:txBody>
      </p:sp>
      <p:sp>
        <p:nvSpPr>
          <p:cNvPr id="311" name="Google Shape;311;p23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SurveyRepository.java</a:t>
            </a:r>
            <a:endParaRPr sz="3000"/>
          </a:p>
        </p:txBody>
      </p:sp>
      <p:sp>
        <p:nvSpPr>
          <p:cNvPr id="312" name="Google Shape;312;p23"/>
          <p:cNvSpPr txBox="1"/>
          <p:nvPr/>
        </p:nvSpPr>
        <p:spPr>
          <a:xfrm>
            <a:off x="571500" y="2272550"/>
            <a:ext cx="10304700" cy="182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interface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SurveyRepository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extends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JpaRepository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400">
                <a:solidFill>
                  <a:srgbClr val="B166DA"/>
                </a:solidFill>
                <a:highlight>
                  <a:srgbClr val="1E1F22"/>
                </a:highlight>
              </a:rPr>
              <a:t>Survey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B166DA"/>
                </a:solidFill>
                <a:highlight>
                  <a:srgbClr val="1E1F22"/>
                </a:highlight>
              </a:rPr>
              <a:t>Long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</a:t>
            </a:r>
            <a:endParaRPr sz="2400">
              <a:solidFill>
                <a:srgbClr val="D9E8F7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DTO</a:t>
            </a:r>
            <a:endParaRPr sz="4563"/>
          </a:p>
        </p:txBody>
      </p:sp>
      <p:sp>
        <p:nvSpPr>
          <p:cNvPr id="319" name="Google Shape;319;p24"/>
          <p:cNvSpPr txBox="1"/>
          <p:nvPr/>
        </p:nvSpPr>
        <p:spPr>
          <a:xfrm>
            <a:off x="571500" y="1423525"/>
            <a:ext cx="4953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OptionDTO.java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QuestionDTO.java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SurveyDTO.java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327" name="Google Shape;327;p25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328" name="Google Shape;328;p25"/>
          <p:cNvSpPr txBox="1"/>
          <p:nvPr/>
        </p:nvSpPr>
        <p:spPr>
          <a:xfrm>
            <a:off x="762000" y="2264850"/>
            <a:ext cx="10901700" cy="267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@Autowired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SurveyRepository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surveyRepository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SurveyDTO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B6291"/>
                </a:highlight>
              </a:rPr>
              <a:t>convertToDTO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Survey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400">
                <a:solidFill>
                  <a:srgbClr val="B166DA"/>
                </a:solidFill>
                <a:highlight>
                  <a:srgbClr val="1E1F22"/>
                </a:highlight>
              </a:rPr>
              <a:t>SurveyDTO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saveSurvey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SurveyDTO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 u="sng">
                <a:solidFill>
                  <a:srgbClr val="66AFF9"/>
                </a:solidFill>
                <a:highlight>
                  <a:srgbClr val="1E1F22"/>
                </a:highlight>
              </a:rPr>
              <a:t>dto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4" name="Google Shape;3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6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AdminSurveyController.java</a:t>
            </a:r>
            <a:endParaRPr sz="3000"/>
          </a:p>
        </p:txBody>
      </p:sp>
      <p:sp>
        <p:nvSpPr>
          <p:cNvPr id="336" name="Google Shape;336;p26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337" name="Google Shape;337;p26"/>
          <p:cNvSpPr txBox="1"/>
          <p:nvPr/>
        </p:nvSpPr>
        <p:spPr>
          <a:xfrm>
            <a:off x="571500" y="2103500"/>
            <a:ext cx="11391900" cy="437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@Autowired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SurveyService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surveyService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@PostMapping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createSurvey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@Valid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@RequestBody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SurveyDTO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surveyDTO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@PutMapping("/{id}")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updateSurvey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@PathVariable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 u="sng">
                <a:solidFill>
                  <a:srgbClr val="17C6A3"/>
                </a:solidFill>
                <a:highlight>
                  <a:srgbClr val="1E1F22"/>
                </a:highlight>
              </a:rPr>
              <a:t>"id"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@Valid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@RequestBody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SurveyDTO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surveyDTO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7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7"/>
          <p:cNvSpPr txBox="1"/>
          <p:nvPr/>
        </p:nvSpPr>
        <p:spPr>
          <a:xfrm>
            <a:off x="571500" y="1124347"/>
            <a:ext cx="5506800" cy="52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新增問卷</a:t>
            </a:r>
            <a:endParaRPr b="1" sz="22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3683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○"/>
            </a:pP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POST</a:t>
            </a:r>
            <a:endParaRPr sz="22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3683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○"/>
            </a:pP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http://localhost:8080/api/admin/surveys</a:t>
            </a:r>
            <a:endParaRPr sz="22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3683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○"/>
            </a:pP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Body (JSON):</a:t>
            </a:r>
            <a:endParaRPr b="1" sz="22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3683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Google Sans Text"/>
              <a:buChar char="■"/>
            </a:pP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參考 </a:t>
            </a:r>
            <a:r>
              <a:rPr b="1" lang="en-US" sz="2200" u="sng">
                <a:solidFill>
                  <a:schemeClr val="hlink"/>
                </a:solidFill>
                <a:latin typeface="Google Sans Text"/>
                <a:ea typeface="Google Sans Text"/>
                <a:cs typeface="Google Sans Text"/>
                <a:sym typeface="Google Sans Text"/>
                <a:hlinkClick r:id="rId4"/>
              </a:rPr>
              <a:t>https://docs.google.com/document/d/1uNZgv125KTMh1R79wOrQgEq-Y7k-pdBbaHQvxTcnhc0/edit?tab=t.jnrb85fal13u</a:t>
            </a: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的新增問卷</a:t>
            </a:r>
            <a:endParaRPr b="1" sz="22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3683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○"/>
            </a:pP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</a:t>
            </a:r>
            <a:r>
              <a:rPr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: 問卷內容</a:t>
            </a:r>
            <a:endParaRPr sz="2200"/>
          </a:p>
        </p:txBody>
      </p:sp>
      <p:sp>
        <p:nvSpPr>
          <p:cNvPr id="347" name="Google Shape;347;p27"/>
          <p:cNvSpPr txBox="1"/>
          <p:nvPr/>
        </p:nvSpPr>
        <p:spPr>
          <a:xfrm>
            <a:off x="6192850" y="1124339"/>
            <a:ext cx="5805000" cy="5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2. </a:t>
            </a: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更新問卷</a:t>
            </a:r>
            <a:endParaRPr b="1" sz="22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3683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PUT</a:t>
            </a:r>
            <a:endParaRPr sz="22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3683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http://localhost:8080/api/admin/surveys/</a:t>
            </a:r>
            <a:r>
              <a:rPr lang="en-US" sz="22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</a:t>
            </a:r>
            <a:endParaRPr sz="22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3683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Body (JSON):</a:t>
            </a:r>
            <a:endParaRPr b="1" sz="22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3683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Google Sans Text"/>
              <a:buChar char="■"/>
            </a:pP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參考 </a:t>
            </a:r>
            <a:r>
              <a:rPr b="1" lang="en-US" sz="2200" u="sng">
                <a:solidFill>
                  <a:schemeClr val="hlink"/>
                </a:solidFill>
                <a:latin typeface="Google Sans Text"/>
                <a:ea typeface="Google Sans Text"/>
                <a:cs typeface="Google Sans Text"/>
                <a:sym typeface="Google Sans Text"/>
                <a:hlinkClick r:id="rId5"/>
              </a:rPr>
              <a:t>https://docs.google.com/document/d/1uNZgv125KTMh1R79wOrQgEq-Y7k-pdBbaHQvxTcnhc0/edit?tab=t.jnrb85fal13u</a:t>
            </a: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的新增問卷</a:t>
            </a:r>
            <a:endParaRPr b="1" sz="22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3683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b="1"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2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問卷內容</a:t>
            </a:r>
            <a:endParaRPr sz="2200">
              <a:solidFill>
                <a:schemeClr val="dk1"/>
              </a:solidFill>
            </a:endParaRPr>
          </a:p>
          <a:p>
            <a:pPr indent="-3683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Google Sans Text"/>
              <a:buChar char="○"/>
            </a:pPr>
            <a:r>
              <a:rPr b="1" lang="en-US" sz="22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1請替換成對應的問卷ID</a:t>
            </a:r>
            <a:endParaRPr b="1" sz="22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2" name="Google Shape;3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52500"/>
            <a:ext cx="9906000" cy="47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8"/>
          <p:cNvSpPr txBox="1"/>
          <p:nvPr/>
        </p:nvSpPr>
        <p:spPr>
          <a:xfrm>
            <a:off x="1143001" y="3026508"/>
            <a:ext cx="9906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刪除</a:t>
            </a: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問卷</a:t>
            </a:r>
            <a:endParaRPr sz="8112"/>
          </a:p>
        </p:txBody>
      </p:sp>
      <p:sp>
        <p:nvSpPr>
          <p:cNvPr id="355" name="Google Shape;355;p28"/>
          <p:cNvSpPr/>
          <p:nvPr/>
        </p:nvSpPr>
        <p:spPr>
          <a:xfrm>
            <a:off x="5619750" y="4287522"/>
            <a:ext cx="952500" cy="38100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1" name="Google Shape;36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9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363" name="Google Shape;363;p29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364" name="Google Shape;364;p29"/>
          <p:cNvSpPr txBox="1"/>
          <p:nvPr/>
        </p:nvSpPr>
        <p:spPr>
          <a:xfrm>
            <a:off x="571500" y="2103500"/>
            <a:ext cx="11148000" cy="395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 [功能] 刪除問卷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@Transactional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deleteSurvey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surveyRepository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80F6A7"/>
                </a:solidFill>
                <a:highlight>
                  <a:srgbClr val="1E1F22"/>
                </a:highlight>
              </a:rPr>
              <a:t>deleteById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400">
                <a:solidFill>
                  <a:srgbClr val="96EC3F"/>
                </a:solidFill>
                <a:highlight>
                  <a:srgbClr val="1E1F22"/>
                </a:highlight>
              </a:rPr>
              <a:t>success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1" name="Google Shape;37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0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AdminSurveyController.java</a:t>
            </a:r>
            <a:endParaRPr sz="3000"/>
          </a:p>
        </p:txBody>
      </p:sp>
      <p:sp>
        <p:nvSpPr>
          <p:cNvPr id="373" name="Google Shape;373;p30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374" name="Google Shape;374;p30"/>
          <p:cNvSpPr txBox="1"/>
          <p:nvPr/>
        </p:nvSpPr>
        <p:spPr>
          <a:xfrm>
            <a:off x="571500" y="2103500"/>
            <a:ext cx="11148000" cy="441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2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808080"/>
                </a:solidFill>
                <a:highlight>
                  <a:srgbClr val="1E1F22"/>
                </a:highlight>
              </a:rPr>
              <a:t>    * [功能] 刪除問卷</a:t>
            </a:r>
            <a:endParaRPr sz="22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808080"/>
                </a:solidFill>
                <a:highlight>
                  <a:srgbClr val="1E1F22"/>
                </a:highlight>
              </a:rPr>
              <a:t>    * </a:t>
            </a:r>
            <a:r>
              <a:rPr lang="en-US" sz="2200">
                <a:solidFill>
                  <a:srgbClr val="1E789B"/>
                </a:solidFill>
                <a:highlight>
                  <a:srgbClr val="1E1F22"/>
                </a:highlight>
              </a:rPr>
              <a:t>-------------------------------------------------------------------------</a:t>
            </a:r>
            <a:endParaRPr sz="2200">
              <a:solidFill>
                <a:srgbClr val="1E789B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808080"/>
                </a:solidFill>
                <a:highlight>
                  <a:srgbClr val="1E1F22"/>
                </a:highlight>
              </a:rPr>
              <a:t>    * 【技術細節】</a:t>
            </a:r>
            <a:endParaRPr sz="22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808080"/>
                </a:solidFill>
                <a:highlight>
                  <a:srgbClr val="1E1F22"/>
                </a:highlight>
              </a:rPr>
              <a:t>    * 1. </a:t>
            </a:r>
            <a:r>
              <a:rPr b="1" lang="en-US" sz="2200">
                <a:solidFill>
                  <a:srgbClr val="9A8C7C"/>
                </a:solidFill>
                <a:highlight>
                  <a:srgbClr val="1E1F22"/>
                </a:highlight>
              </a:rPr>
              <a:t>@DeleteMapping</a:t>
            </a:r>
            <a:r>
              <a:rPr lang="en-US" sz="2200">
                <a:solidFill>
                  <a:srgbClr val="808080"/>
                </a:solidFill>
                <a:highlight>
                  <a:srgbClr val="1E1F22"/>
                </a:highlight>
              </a:rPr>
              <a:t>: 指定使用 DELETE 方法。</a:t>
            </a:r>
            <a:endParaRPr sz="22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2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200">
                <a:solidFill>
                  <a:srgbClr val="A0A0A0"/>
                </a:solidFill>
                <a:highlight>
                  <a:srgbClr val="1E1F22"/>
                </a:highlight>
              </a:rPr>
              <a:t>@DeleteMapping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17C6A3"/>
                </a:solidFill>
                <a:highlight>
                  <a:srgbClr val="1E1F22"/>
                </a:highlight>
              </a:rPr>
              <a:t>"/{id}"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2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2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1EB540"/>
                </a:solidFill>
                <a:highlight>
                  <a:srgbClr val="1E1F22"/>
                </a:highlight>
              </a:rPr>
              <a:t>deleteSurvey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200">
                <a:solidFill>
                  <a:srgbClr val="A0A0A0"/>
                </a:solidFill>
                <a:highlight>
                  <a:srgbClr val="1E1F22"/>
                </a:highlight>
              </a:rPr>
              <a:t>@PathVariable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 u="sng">
                <a:solidFill>
                  <a:srgbClr val="17C6A3"/>
                </a:solidFill>
                <a:highlight>
                  <a:srgbClr val="1E1F22"/>
                </a:highlight>
              </a:rPr>
              <a:t>"id"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2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2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66E1F8"/>
                </a:solidFill>
                <a:highlight>
                  <a:srgbClr val="1E1F22"/>
                </a:highlight>
              </a:rPr>
              <a:t>surveyService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A7EC21"/>
                </a:solidFill>
                <a:highlight>
                  <a:srgbClr val="1E1F22"/>
                </a:highlight>
              </a:rPr>
              <a:t>deleteSurvey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2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2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5" name="Google Shape;375;p30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0" name="Google Shape;38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1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1"/>
          <p:cNvSpPr txBox="1"/>
          <p:nvPr/>
        </p:nvSpPr>
        <p:spPr>
          <a:xfrm>
            <a:off x="571500" y="1124350"/>
            <a:ext cx="11245200" cy="25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Google Sans Text"/>
              <a:buAutoNum type="arabicPeriod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刪除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問卷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DELETE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http://localhost:8080/api/admin/surveys/</a:t>
            </a:r>
            <a:r>
              <a:rPr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</a:t>
            </a:r>
            <a:endParaRPr sz="28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null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Google Sans Text"/>
              <a:buChar char="○"/>
            </a:pPr>
            <a:r>
              <a:rPr b="1"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1請替換成對應的問卷ID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8" name="Google Shape;38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52500"/>
            <a:ext cx="9906000" cy="47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2"/>
          <p:cNvSpPr txBox="1"/>
          <p:nvPr/>
        </p:nvSpPr>
        <p:spPr>
          <a:xfrm>
            <a:off x="1143001" y="3026508"/>
            <a:ext cx="9906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查詢</a:t>
            </a: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問卷</a:t>
            </a: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列表</a:t>
            </a:r>
            <a:endParaRPr sz="8112"/>
          </a:p>
        </p:txBody>
      </p:sp>
      <p:sp>
        <p:nvSpPr>
          <p:cNvPr id="391" name="Google Shape;391;p32"/>
          <p:cNvSpPr/>
          <p:nvPr/>
        </p:nvSpPr>
        <p:spPr>
          <a:xfrm>
            <a:off x="5619750" y="4287522"/>
            <a:ext cx="952500" cy="38100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3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Repository</a:t>
            </a:r>
            <a:endParaRPr sz="4563"/>
          </a:p>
        </p:txBody>
      </p:sp>
      <p:sp>
        <p:nvSpPr>
          <p:cNvPr id="397" name="Google Shape;397;p33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SurveyRepository.java</a:t>
            </a:r>
            <a:endParaRPr sz="3000"/>
          </a:p>
        </p:txBody>
      </p:sp>
      <p:sp>
        <p:nvSpPr>
          <p:cNvPr id="398" name="Google Shape;398;p33"/>
          <p:cNvSpPr txBox="1"/>
          <p:nvPr/>
        </p:nvSpPr>
        <p:spPr>
          <a:xfrm>
            <a:off x="571500" y="2272550"/>
            <a:ext cx="10304700" cy="449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CC6C1D"/>
                </a:solidFill>
                <a:highlight>
                  <a:srgbClr val="1E1F22"/>
                </a:highlight>
              </a:rPr>
              <a:t>interface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80F2F6"/>
                </a:solidFill>
                <a:highlight>
                  <a:srgbClr val="1E1F22"/>
                </a:highlight>
              </a:rPr>
              <a:t>SurveyRepository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CC6C1D"/>
                </a:solidFill>
                <a:highlight>
                  <a:srgbClr val="1E1F22"/>
                </a:highlight>
              </a:rPr>
              <a:t>extends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80F2F6"/>
                </a:solidFill>
                <a:highlight>
                  <a:srgbClr val="1E1F22"/>
                </a:highlight>
              </a:rPr>
              <a:t>JpaRepository</a:t>
            </a:r>
            <a:r>
              <a:rPr lang="en-US" sz="18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800">
                <a:solidFill>
                  <a:srgbClr val="B166DA"/>
                </a:solidFill>
                <a:highlight>
                  <a:srgbClr val="1E1F22"/>
                </a:highlight>
              </a:rPr>
              <a:t>Survey</a:t>
            </a:r>
            <a:r>
              <a:rPr lang="en-US" sz="18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B166DA"/>
                </a:solidFill>
                <a:highlight>
                  <a:srgbClr val="1E1F22"/>
                </a:highlight>
              </a:rPr>
              <a:t>Long</a:t>
            </a:r>
            <a:r>
              <a:rPr lang="en-US" sz="18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8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    </a:t>
            </a:r>
            <a:r>
              <a:rPr lang="en-US" sz="18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18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808080"/>
                </a:solidFill>
                <a:highlight>
                  <a:srgbClr val="1E1F22"/>
                </a:highlight>
              </a:rPr>
              <a:t>    * 多條件動態篩選</a:t>
            </a:r>
            <a:endParaRPr sz="18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808080"/>
                </a:solidFill>
                <a:highlight>
                  <a:srgbClr val="1E1F22"/>
                </a:highlight>
              </a:rPr>
              <a:t>    * 支援根據標題關鍵字、日期區間進行搜尋。</a:t>
            </a:r>
            <a:endParaRPr sz="18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18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1800">
                <a:solidFill>
                  <a:srgbClr val="A0A0A0"/>
                </a:solidFill>
                <a:highlight>
                  <a:srgbClr val="1E1F22"/>
                </a:highlight>
              </a:rPr>
              <a:t>@Query</a:t>
            </a:r>
            <a:r>
              <a:rPr lang="en-US" sz="18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800">
                <a:solidFill>
                  <a:srgbClr val="17C6A3"/>
                </a:solidFill>
                <a:highlight>
                  <a:srgbClr val="1E1F22"/>
                </a:highlight>
              </a:rPr>
              <a:t>"SELECT s FROM Survey s WHERE "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E6E6FA"/>
                </a:solidFill>
                <a:highlight>
                  <a:srgbClr val="1E1F22"/>
                </a:highlight>
              </a:rPr>
              <a:t>+</a:t>
            </a:r>
            <a:endParaRPr sz="18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         </a:t>
            </a:r>
            <a:r>
              <a:rPr lang="en-US" sz="1800">
                <a:solidFill>
                  <a:srgbClr val="17C6A3"/>
                </a:solidFill>
                <a:highlight>
                  <a:srgbClr val="1E1F22"/>
                </a:highlight>
              </a:rPr>
              <a:t>"(:title IS NULL OR s.title LIKE %:title%) AND "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E6E6FA"/>
                </a:solidFill>
                <a:highlight>
                  <a:srgbClr val="1E1F22"/>
                </a:highlight>
              </a:rPr>
              <a:t>+</a:t>
            </a:r>
            <a:endParaRPr sz="18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         </a:t>
            </a:r>
            <a:r>
              <a:rPr lang="en-US" sz="1800">
                <a:solidFill>
                  <a:srgbClr val="17C6A3"/>
                </a:solidFill>
                <a:highlight>
                  <a:srgbClr val="1E1F22"/>
                </a:highlight>
              </a:rPr>
              <a:t>"(:startDate IS NULL OR s.startDate &gt;= :startDate) AND "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E6E6FA"/>
                </a:solidFill>
                <a:highlight>
                  <a:srgbClr val="1E1F22"/>
                </a:highlight>
              </a:rPr>
              <a:t>+</a:t>
            </a:r>
            <a:endParaRPr sz="18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         </a:t>
            </a:r>
            <a:r>
              <a:rPr lang="en-US" sz="1800">
                <a:solidFill>
                  <a:srgbClr val="17C6A3"/>
                </a:solidFill>
                <a:highlight>
                  <a:srgbClr val="1E1F22"/>
                </a:highlight>
              </a:rPr>
              <a:t>"(:endDate IS NULL OR s.endDate &lt;= :endDate)"</a:t>
            </a:r>
            <a:r>
              <a:rPr lang="en-US" sz="18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18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1800">
                <a:solidFill>
                  <a:srgbClr val="80F2F6"/>
                </a:solidFill>
                <a:highlight>
                  <a:srgbClr val="1E1F22"/>
                </a:highlight>
              </a:rPr>
              <a:t>List</a:t>
            </a:r>
            <a:r>
              <a:rPr lang="en-US" sz="18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800">
                <a:solidFill>
                  <a:srgbClr val="B166DA"/>
                </a:solidFill>
                <a:highlight>
                  <a:srgbClr val="1E1F22"/>
                </a:highlight>
              </a:rPr>
              <a:t>Survey</a:t>
            </a:r>
            <a:r>
              <a:rPr lang="en-US" sz="18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1EB540"/>
                </a:solidFill>
                <a:highlight>
                  <a:srgbClr val="1B6291"/>
                </a:highlight>
              </a:rPr>
              <a:t>findByFilters</a:t>
            </a:r>
            <a:r>
              <a:rPr lang="en-US" sz="18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1800">
                <a:solidFill>
                  <a:srgbClr val="A0A0A0"/>
                </a:solidFill>
                <a:highlight>
                  <a:srgbClr val="1E1F22"/>
                </a:highlight>
              </a:rPr>
              <a:t>@Param</a:t>
            </a:r>
            <a:r>
              <a:rPr lang="en-US" sz="18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800">
                <a:solidFill>
                  <a:srgbClr val="17C6A3"/>
                </a:solidFill>
                <a:highlight>
                  <a:srgbClr val="1E1F22"/>
                </a:highlight>
              </a:rPr>
              <a:t>"title"</a:t>
            </a:r>
            <a:r>
              <a:rPr lang="en-US" sz="18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79ABFF"/>
                </a:solidFill>
                <a:highlight>
                  <a:srgbClr val="1E1F22"/>
                </a:highlight>
              </a:rPr>
              <a:t>title</a:t>
            </a:r>
            <a:r>
              <a:rPr lang="en-US" sz="18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endParaRPr sz="18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                             </a:t>
            </a:r>
            <a:r>
              <a:rPr i="1" lang="en-US" sz="1800">
                <a:solidFill>
                  <a:srgbClr val="A0A0A0"/>
                </a:solidFill>
                <a:highlight>
                  <a:srgbClr val="1E1F22"/>
                </a:highlight>
              </a:rPr>
              <a:t>@Param</a:t>
            </a:r>
            <a:r>
              <a:rPr lang="en-US" sz="18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800">
                <a:solidFill>
                  <a:srgbClr val="17C6A3"/>
                </a:solidFill>
                <a:highlight>
                  <a:srgbClr val="1E1F22"/>
                </a:highlight>
              </a:rPr>
              <a:t>"startDate"</a:t>
            </a:r>
            <a:r>
              <a:rPr lang="en-US" sz="18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1290C3"/>
                </a:solidFill>
                <a:highlight>
                  <a:srgbClr val="1E1F22"/>
                </a:highlight>
              </a:rPr>
              <a:t>LocalDate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79ABFF"/>
                </a:solidFill>
                <a:highlight>
                  <a:srgbClr val="1E1F22"/>
                </a:highlight>
              </a:rPr>
              <a:t>startDate</a:t>
            </a:r>
            <a:r>
              <a:rPr lang="en-US" sz="18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endParaRPr sz="18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                             </a:t>
            </a:r>
            <a:r>
              <a:rPr i="1" lang="en-US" sz="1800">
                <a:solidFill>
                  <a:srgbClr val="A0A0A0"/>
                </a:solidFill>
                <a:highlight>
                  <a:srgbClr val="1E1F22"/>
                </a:highlight>
              </a:rPr>
              <a:t>@Param</a:t>
            </a:r>
            <a:r>
              <a:rPr lang="en-US" sz="18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800">
                <a:solidFill>
                  <a:srgbClr val="17C6A3"/>
                </a:solidFill>
                <a:highlight>
                  <a:srgbClr val="1E1F22"/>
                </a:highlight>
              </a:rPr>
              <a:t>"endDate"</a:t>
            </a:r>
            <a:r>
              <a:rPr lang="en-US" sz="18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1290C3"/>
                </a:solidFill>
                <a:highlight>
                  <a:srgbClr val="1E1F22"/>
                </a:highlight>
              </a:rPr>
              <a:t>LocalDate</a:t>
            </a:r>
            <a:r>
              <a:rPr lang="en-US" sz="1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800">
                <a:solidFill>
                  <a:srgbClr val="79ABFF"/>
                </a:solidFill>
                <a:highlight>
                  <a:srgbClr val="1E1F22"/>
                </a:highlight>
              </a:rPr>
              <a:t>endDate</a:t>
            </a:r>
            <a:r>
              <a:rPr lang="en-US" sz="18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8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8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800">
              <a:solidFill>
                <a:srgbClr val="F9FAF4"/>
              </a:solidFill>
              <a:highlight>
                <a:srgbClr val="1E1F22"/>
              </a:highlight>
            </a:endParaRPr>
          </a:p>
        </p:txBody>
      </p:sp>
      <p:sp>
        <p:nvSpPr>
          <p:cNvPr id="399" name="Google Shape;399;p33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4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5" name="Google Shape;40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4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</a:t>
            </a:r>
            <a:r>
              <a:rPr lang="en-US" sz="3000">
                <a:solidFill>
                  <a:schemeClr val="dk1"/>
                </a:solidFill>
              </a:rPr>
              <a:t>.java</a:t>
            </a:r>
            <a:endParaRPr sz="3000"/>
          </a:p>
        </p:txBody>
      </p:sp>
      <p:sp>
        <p:nvSpPr>
          <p:cNvPr id="407" name="Google Shape;407;p34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408" name="Google Shape;408;p34"/>
          <p:cNvSpPr txBox="1"/>
          <p:nvPr/>
        </p:nvSpPr>
        <p:spPr>
          <a:xfrm>
            <a:off x="571500" y="2103500"/>
            <a:ext cx="11148000" cy="324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200">
                <a:solidFill>
                  <a:srgbClr val="80F2F6"/>
                </a:solidFill>
                <a:highlight>
                  <a:srgbClr val="1E1F22"/>
                </a:highlight>
              </a:rPr>
              <a:t>List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200">
                <a:solidFill>
                  <a:srgbClr val="B166DA"/>
                </a:solidFill>
                <a:highlight>
                  <a:srgbClr val="1E1F22"/>
                </a:highlight>
              </a:rPr>
              <a:t>SurveyDTO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&gt;&gt;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1EB540"/>
                </a:solidFill>
                <a:highlight>
                  <a:srgbClr val="1E1F22"/>
                </a:highlight>
              </a:rPr>
              <a:t>getSurveysByAdmin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79ABFF"/>
                </a:solidFill>
                <a:highlight>
                  <a:srgbClr val="1E1F22"/>
                </a:highlight>
              </a:rPr>
              <a:t>title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1290C3"/>
                </a:solidFill>
                <a:highlight>
                  <a:srgbClr val="1E1F22"/>
                </a:highlight>
              </a:rPr>
              <a:t>LocalDate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79ABFF"/>
                </a:solidFill>
                <a:highlight>
                  <a:srgbClr val="1E1F22"/>
                </a:highlight>
              </a:rPr>
              <a:t>start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1290C3"/>
                </a:solidFill>
                <a:highlight>
                  <a:srgbClr val="1E1F22"/>
                </a:highlight>
              </a:rPr>
              <a:t>LocalDate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79ABFF"/>
                </a:solidFill>
                <a:highlight>
                  <a:srgbClr val="1E1F22"/>
                </a:highlight>
              </a:rPr>
              <a:t>end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2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200">
                <a:solidFill>
                  <a:srgbClr val="80F2F6"/>
                </a:solidFill>
                <a:highlight>
                  <a:srgbClr val="1E1F22"/>
                </a:highlight>
              </a:rPr>
              <a:t>List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200">
                <a:solidFill>
                  <a:srgbClr val="B166DA"/>
                </a:solidFill>
                <a:highlight>
                  <a:srgbClr val="1E1F22"/>
                </a:highlight>
              </a:rPr>
              <a:t>Survey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F2F200"/>
                </a:solidFill>
                <a:highlight>
                  <a:srgbClr val="1E1F22"/>
                </a:highlight>
              </a:rPr>
              <a:t>surveys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66E1F8"/>
                </a:solidFill>
                <a:highlight>
                  <a:srgbClr val="1E1F22"/>
                </a:highlight>
              </a:rPr>
              <a:t>surveyRepository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80F6A7"/>
                </a:solidFill>
                <a:highlight>
                  <a:srgbClr val="1B6291"/>
                </a:highlight>
              </a:rPr>
              <a:t>findByFilters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79ABFF"/>
                </a:solidFill>
                <a:highlight>
                  <a:srgbClr val="1E1F22"/>
                </a:highlight>
              </a:rPr>
              <a:t>title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79ABFF"/>
                </a:solidFill>
                <a:highlight>
                  <a:srgbClr val="1E1F22"/>
                </a:highlight>
              </a:rPr>
              <a:t>start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79ABFF"/>
                </a:solidFill>
                <a:highlight>
                  <a:srgbClr val="1E1F22"/>
                </a:highlight>
              </a:rPr>
              <a:t>end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2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2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200">
                <a:solidFill>
                  <a:srgbClr val="96EC3F"/>
                </a:solidFill>
                <a:highlight>
                  <a:srgbClr val="1E1F22"/>
                </a:highlight>
              </a:rPr>
              <a:t>success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F3EC79"/>
                </a:solidFill>
                <a:highlight>
                  <a:srgbClr val="1E1F22"/>
                </a:highlight>
              </a:rPr>
              <a:t>surveys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A7EC21"/>
                </a:solidFill>
                <a:highlight>
                  <a:srgbClr val="1E1F22"/>
                </a:highlight>
              </a:rPr>
              <a:t>stream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80F6A7"/>
                </a:solidFill>
                <a:highlight>
                  <a:srgbClr val="1E1F22"/>
                </a:highlight>
              </a:rPr>
              <a:t>map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F2F200"/>
                </a:solidFill>
                <a:highlight>
                  <a:srgbClr val="1E1F22"/>
                </a:highlight>
              </a:rPr>
              <a:t>s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2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200">
                <a:solidFill>
                  <a:srgbClr val="1290C3"/>
                </a:solidFill>
                <a:highlight>
                  <a:srgbClr val="1E1F22"/>
                </a:highlight>
              </a:rPr>
              <a:t>SurveyDTO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F2F200"/>
                </a:solidFill>
                <a:highlight>
                  <a:srgbClr val="1E1F22"/>
                </a:highlight>
              </a:rPr>
              <a:t>dto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A7EC21"/>
                </a:solidFill>
                <a:highlight>
                  <a:srgbClr val="1E1F22"/>
                </a:highlight>
              </a:rPr>
              <a:t>convertToDTO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F3EC79"/>
                </a:solidFill>
                <a:highlight>
                  <a:srgbClr val="1E1F22"/>
                </a:highlight>
              </a:rPr>
              <a:t>s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2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2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F3EC79"/>
                </a:solidFill>
                <a:highlight>
                  <a:srgbClr val="1E1F22"/>
                </a:highlight>
              </a:rPr>
              <a:t>dto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2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})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 u="sng">
                <a:solidFill>
                  <a:srgbClr val="66AFF9"/>
                </a:solidFill>
                <a:highlight>
                  <a:srgbClr val="1E1F22"/>
                </a:highlight>
              </a:rPr>
              <a:t>collect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1290C3"/>
                </a:solidFill>
                <a:highlight>
                  <a:srgbClr val="1E1F22"/>
                </a:highlight>
              </a:rPr>
              <a:t>Collectors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200">
                <a:solidFill>
                  <a:srgbClr val="96EC3F"/>
                </a:solidFill>
                <a:highlight>
                  <a:srgbClr val="1E1F22"/>
                </a:highlight>
              </a:rPr>
              <a:t>toList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()))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2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20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5" name="Google Shape;41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5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AdminSurveyController.java</a:t>
            </a:r>
            <a:endParaRPr sz="3000"/>
          </a:p>
        </p:txBody>
      </p:sp>
      <p:sp>
        <p:nvSpPr>
          <p:cNvPr id="417" name="Google Shape;417;p35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418" name="Google Shape;418;p35"/>
          <p:cNvSpPr txBox="1"/>
          <p:nvPr/>
        </p:nvSpPr>
        <p:spPr>
          <a:xfrm>
            <a:off x="571500" y="2103500"/>
            <a:ext cx="11424600" cy="467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7CA66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-US" sz="200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GetMapping</a:t>
            </a:r>
            <a:endParaRPr sz="2000">
              <a:solidFill>
                <a:srgbClr val="4EC9B0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AppResponse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2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?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200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getSurveys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20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@</a:t>
            </a:r>
            <a:r>
              <a:rPr lang="en-US" sz="200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RequestParam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(name = "title",required </a:t>
            </a:r>
            <a:r>
              <a:rPr lang="en-US" sz="2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200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20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@</a:t>
            </a:r>
            <a:r>
              <a:rPr lang="en-US" sz="200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RequestParam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(name = "startDate",required </a:t>
            </a:r>
            <a:r>
              <a:rPr lang="en-US" sz="2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 @</a:t>
            </a:r>
            <a:r>
              <a:rPr lang="en-US" sz="200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DateTimeFormat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(iso </a:t>
            </a:r>
            <a:r>
              <a:rPr lang="en-US" sz="2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DateTimeFormat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00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ISO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00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200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LocalDate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startDate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20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@</a:t>
            </a:r>
            <a:r>
              <a:rPr lang="en-US" sz="200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RequestParam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(name = "endDate",required </a:t>
            </a:r>
            <a:r>
              <a:rPr lang="en-US" sz="2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 @</a:t>
            </a:r>
            <a:r>
              <a:rPr lang="en-US" sz="200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DateTimeFormat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(iso </a:t>
            </a:r>
            <a:r>
              <a:rPr lang="en-US" sz="2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DateTimeFormat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00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ISO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00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200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LocalDate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endDate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20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000">
                <a:solidFill>
                  <a:srgbClr val="7CA66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// 將篩選條件傳交給 Service 處理業務查詢</a:t>
            </a:r>
            <a:endParaRPr sz="200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00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surveyService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00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getSurveysByAdmin</a:t>
            </a: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(title, startDate, endDate);</a:t>
            </a:r>
            <a:endParaRPr sz="20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2000">
              <a:solidFill>
                <a:srgbClr val="F9FAF4"/>
              </a:solidFill>
              <a:highlight>
                <a:srgbClr val="1E1F22"/>
              </a:highlight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4" name="Google Shape;4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6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6"/>
          <p:cNvSpPr txBox="1"/>
          <p:nvPr/>
        </p:nvSpPr>
        <p:spPr>
          <a:xfrm>
            <a:off x="571500" y="1124350"/>
            <a:ext cx="88215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取得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問卷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列表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GET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http://localhost:8080/api/admin/surveys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所有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問卷內容</a:t>
            </a:r>
            <a:endParaRPr sz="2800"/>
          </a:p>
        </p:txBody>
      </p:sp>
      <p:sp>
        <p:nvSpPr>
          <p:cNvPr id="428" name="Google Shape;428;p36"/>
          <p:cNvSpPr txBox="1"/>
          <p:nvPr/>
        </p:nvSpPr>
        <p:spPr>
          <a:xfrm>
            <a:off x="571500" y="3538814"/>
            <a:ext cx="116205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2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. 取得問卷列表(Filter)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GET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http://localhost:8080/api/admin/surveys?title=2025&amp;startDate=2026-03-01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所有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符合條件的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問卷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內容</a:t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3" name="Google Shape;43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52500"/>
            <a:ext cx="9906000" cy="47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7"/>
          <p:cNvSpPr txBox="1"/>
          <p:nvPr/>
        </p:nvSpPr>
        <p:spPr>
          <a:xfrm>
            <a:off x="1143001" y="3026508"/>
            <a:ext cx="9906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查詢</a:t>
            </a: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單一</a:t>
            </a: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問卷</a:t>
            </a:r>
            <a:endParaRPr sz="8112"/>
          </a:p>
        </p:txBody>
      </p:sp>
      <p:sp>
        <p:nvSpPr>
          <p:cNvPr id="436" name="Google Shape;436;p37"/>
          <p:cNvSpPr/>
          <p:nvPr/>
        </p:nvSpPr>
        <p:spPr>
          <a:xfrm>
            <a:off x="5619750" y="4287522"/>
            <a:ext cx="952500" cy="38100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2" name="Google Shape;44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8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444" name="Google Shape;444;p38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445" name="Google Shape;445;p38"/>
          <p:cNvSpPr txBox="1"/>
          <p:nvPr/>
        </p:nvSpPr>
        <p:spPr>
          <a:xfrm>
            <a:off x="571500" y="2103500"/>
            <a:ext cx="11148000" cy="395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 [功能] 取得單一問卷詳情 (填寫用)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400">
                <a:solidFill>
                  <a:srgbClr val="B166DA"/>
                </a:solidFill>
                <a:highlight>
                  <a:srgbClr val="1E1F22"/>
                </a:highlight>
              </a:rPr>
              <a:t>SurveyDTO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getSurveyDetails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surveyRepository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80F6A7"/>
                </a:solidFill>
                <a:highlight>
                  <a:srgbClr val="1E1F22"/>
                </a:highlight>
              </a:rPr>
              <a:t>findById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       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map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F2F200"/>
                </a:solidFill>
                <a:highlight>
                  <a:srgbClr val="1E1F22"/>
                </a:highlight>
              </a:rPr>
              <a:t>s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400">
                <a:solidFill>
                  <a:srgbClr val="96EC3F"/>
                </a:solidFill>
                <a:highlight>
                  <a:srgbClr val="1E1F22"/>
                </a:highlight>
              </a:rPr>
              <a:t>success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convertToDTO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F3EC79"/>
                </a:solidFill>
                <a:highlight>
                  <a:srgbClr val="1E1F22"/>
                </a:highlight>
              </a:rPr>
              <a:t>s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)))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       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orElse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400">
                <a:solidFill>
                  <a:srgbClr val="96EC3F"/>
                </a:solidFill>
                <a:highlight>
                  <a:srgbClr val="1E1F22"/>
                </a:highlight>
              </a:rPr>
              <a:t>error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400">
                <a:solidFill>
                  <a:srgbClr val="CC81BA"/>
                </a:solidFill>
                <a:highlight>
                  <a:srgbClr val="1E1F22"/>
                </a:highlight>
              </a:rPr>
              <a:t>RspCode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b="1" i="1" lang="en-US" sz="2400">
                <a:solidFill>
                  <a:srgbClr val="8DDAF8"/>
                </a:solidFill>
                <a:highlight>
                  <a:srgbClr val="1E1F22"/>
                </a:highlight>
              </a:rPr>
              <a:t>NOT_FOUND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446" name="Google Shape;446;p3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2" name="Google Shape;45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9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AdminSurveyController.java</a:t>
            </a:r>
            <a:endParaRPr sz="3000"/>
          </a:p>
        </p:txBody>
      </p:sp>
      <p:sp>
        <p:nvSpPr>
          <p:cNvPr id="454" name="Google Shape;454;p39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455" name="Google Shape;455;p39"/>
          <p:cNvSpPr txBox="1"/>
          <p:nvPr/>
        </p:nvSpPr>
        <p:spPr>
          <a:xfrm>
            <a:off x="571500" y="2103500"/>
            <a:ext cx="11148000" cy="33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3000">
                <a:solidFill>
                  <a:srgbClr val="A0A0A0"/>
                </a:solidFill>
                <a:highlight>
                  <a:srgbClr val="1E1F22"/>
                </a:highlight>
              </a:rPr>
              <a:t>@GetMapping</a:t>
            </a:r>
            <a:r>
              <a:rPr lang="en-US" sz="3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3000">
                <a:solidFill>
                  <a:srgbClr val="17C6A3"/>
                </a:solidFill>
                <a:highlight>
                  <a:srgbClr val="1E1F22"/>
                </a:highlight>
              </a:rPr>
              <a:t>"/{id}"</a:t>
            </a:r>
            <a:r>
              <a:rPr lang="en-US" sz="30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30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30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3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30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30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3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3000">
                <a:solidFill>
                  <a:srgbClr val="1EB540"/>
                </a:solidFill>
                <a:highlight>
                  <a:srgbClr val="1E1F22"/>
                </a:highlight>
              </a:rPr>
              <a:t>getSurveyById</a:t>
            </a:r>
            <a:r>
              <a:rPr lang="en-US" sz="3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3000">
                <a:solidFill>
                  <a:srgbClr val="A0A0A0"/>
                </a:solidFill>
                <a:highlight>
                  <a:srgbClr val="1E1F22"/>
                </a:highlight>
              </a:rPr>
              <a:t>@PathVariable</a:t>
            </a:r>
            <a:r>
              <a:rPr lang="en-US" sz="3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3000" u="sng">
                <a:solidFill>
                  <a:srgbClr val="17C6A3"/>
                </a:solidFill>
                <a:highlight>
                  <a:srgbClr val="1E1F22"/>
                </a:highlight>
              </a:rPr>
              <a:t>"id"</a:t>
            </a:r>
            <a:r>
              <a:rPr lang="en-US" sz="30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3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30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3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30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30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3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30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30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30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3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3000">
                <a:solidFill>
                  <a:srgbClr val="66E1F8"/>
                </a:solidFill>
                <a:highlight>
                  <a:srgbClr val="1E1F22"/>
                </a:highlight>
              </a:rPr>
              <a:t>surveyService</a:t>
            </a:r>
            <a:r>
              <a:rPr lang="en-US" sz="3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3000">
                <a:solidFill>
                  <a:srgbClr val="A7EC21"/>
                </a:solidFill>
                <a:highlight>
                  <a:srgbClr val="1E1F22"/>
                </a:highlight>
              </a:rPr>
              <a:t>getSurveyDetails</a:t>
            </a:r>
            <a:r>
              <a:rPr lang="en-US" sz="3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30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30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3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3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30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30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1" name="Google Shape;46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0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3" name="Google Shape;463;p40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0"/>
          <p:cNvSpPr txBox="1"/>
          <p:nvPr/>
        </p:nvSpPr>
        <p:spPr>
          <a:xfrm>
            <a:off x="571500" y="1124350"/>
            <a:ext cx="88215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取得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單一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問卷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內容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GET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http://localhost:8080/api/admin/surveys/</a:t>
            </a:r>
            <a:r>
              <a:rPr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</a:t>
            </a:r>
            <a:endParaRPr sz="28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單一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問卷內容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Google Sans Text"/>
              <a:buChar char="○"/>
            </a:pPr>
            <a:r>
              <a:rPr b="1"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1請替換成對應的問卷ID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9" name="Google Shape;46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52500"/>
            <a:ext cx="9906000" cy="47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1"/>
          <p:cNvSpPr txBox="1"/>
          <p:nvPr/>
        </p:nvSpPr>
        <p:spPr>
          <a:xfrm>
            <a:off x="1143001" y="3026508"/>
            <a:ext cx="9906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取得可填寫</a:t>
            </a: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問卷</a:t>
            </a: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列表</a:t>
            </a:r>
            <a:endParaRPr sz="8112"/>
          </a:p>
        </p:txBody>
      </p:sp>
      <p:sp>
        <p:nvSpPr>
          <p:cNvPr id="472" name="Google Shape;472;p41"/>
          <p:cNvSpPr/>
          <p:nvPr/>
        </p:nvSpPr>
        <p:spPr>
          <a:xfrm>
            <a:off x="5619750" y="4287522"/>
            <a:ext cx="952500" cy="38100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2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Repository</a:t>
            </a:r>
            <a:endParaRPr sz="4563"/>
          </a:p>
        </p:txBody>
      </p:sp>
      <p:sp>
        <p:nvSpPr>
          <p:cNvPr id="478" name="Google Shape;478;p42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SurveyRepository.java</a:t>
            </a:r>
            <a:endParaRPr sz="3000"/>
          </a:p>
        </p:txBody>
      </p:sp>
      <p:sp>
        <p:nvSpPr>
          <p:cNvPr id="479" name="Google Shape;479;p42"/>
          <p:cNvSpPr txBox="1"/>
          <p:nvPr/>
        </p:nvSpPr>
        <p:spPr>
          <a:xfrm>
            <a:off x="571500" y="2272550"/>
            <a:ext cx="10304700" cy="458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interface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SurveyRepository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extends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JpaRepository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400">
                <a:solidFill>
                  <a:srgbClr val="B166DA"/>
                </a:solidFill>
                <a:highlight>
                  <a:srgbClr val="1E1F22"/>
                </a:highlight>
              </a:rPr>
              <a:t>Survey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B166DA"/>
                </a:solidFill>
                <a:highlight>
                  <a:srgbClr val="1E1F22"/>
                </a:highlight>
              </a:rPr>
              <a:t>Long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 自定義查詢 (Query Method)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 這裡使用了 JPQL 來查詢符合「已發佈」且「在有效日期內」的問卷。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@Query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"SELECT s FROM Survey s WHERE s.status = 'PUBLISHED' AND s.startDate &lt;= :today AND s.endDate &gt;= :today"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List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400">
                <a:solidFill>
                  <a:srgbClr val="B166DA"/>
                </a:solidFill>
                <a:highlight>
                  <a:srgbClr val="1E1F22"/>
                </a:highlight>
              </a:rPr>
              <a:t>Survey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B6291"/>
                </a:highlight>
              </a:rPr>
              <a:t>findActiveSurveys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@Param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"today"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LocalDate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today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9E8F7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</p:txBody>
      </p:sp>
      <p:sp>
        <p:nvSpPr>
          <p:cNvPr id="480" name="Google Shape;480;p42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3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6" name="Google Shape;48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3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488" name="Google Shape;488;p43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489" name="Google Shape;489;p43"/>
          <p:cNvSpPr txBox="1"/>
          <p:nvPr/>
        </p:nvSpPr>
        <p:spPr>
          <a:xfrm>
            <a:off x="571500" y="2103500"/>
            <a:ext cx="11148000" cy="416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0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0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808080"/>
                </a:solidFill>
                <a:highlight>
                  <a:srgbClr val="1E1F22"/>
                </a:highlight>
              </a:rPr>
              <a:t>    * [功能] 取得所有進行中的問卷</a:t>
            </a:r>
            <a:endParaRPr sz="20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808080"/>
                </a:solidFill>
                <a:highlight>
                  <a:srgbClr val="1E1F22"/>
                </a:highlight>
              </a:rPr>
              <a:t>    * 【關鍵點】調用 Repository 的自定義查詢，僅回傳符合日期範圍且已發佈的問卷。</a:t>
            </a:r>
            <a:endParaRPr sz="20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0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000">
                <a:solidFill>
                  <a:srgbClr val="80F2F6"/>
                </a:solidFill>
                <a:highlight>
                  <a:srgbClr val="1E1F22"/>
                </a:highlight>
              </a:rPr>
              <a:t>List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000">
                <a:solidFill>
                  <a:srgbClr val="B166DA"/>
                </a:solidFill>
                <a:highlight>
                  <a:srgbClr val="1E1F22"/>
                </a:highlight>
              </a:rPr>
              <a:t>SurveyDTO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&gt;&gt;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1EB540"/>
                </a:solidFill>
                <a:highlight>
                  <a:srgbClr val="1E1F22"/>
                </a:highlight>
              </a:rPr>
              <a:t>getActiveSurveys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0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000">
                <a:solidFill>
                  <a:srgbClr val="80F2F6"/>
                </a:solidFill>
                <a:highlight>
                  <a:srgbClr val="1E1F22"/>
                </a:highlight>
              </a:rPr>
              <a:t>List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000">
                <a:solidFill>
                  <a:srgbClr val="B166DA"/>
                </a:solidFill>
                <a:highlight>
                  <a:srgbClr val="1E1F22"/>
                </a:highlight>
              </a:rPr>
              <a:t>Survey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2F200"/>
                </a:solidFill>
                <a:highlight>
                  <a:srgbClr val="1E1F22"/>
                </a:highlight>
              </a:rPr>
              <a:t>surveys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66E1F8"/>
                </a:solidFill>
                <a:highlight>
                  <a:srgbClr val="1E1F22"/>
                </a:highlight>
              </a:rPr>
              <a:t>surveyRepository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80F6A7"/>
                </a:solidFill>
                <a:highlight>
                  <a:srgbClr val="1E1F22"/>
                </a:highlight>
              </a:rPr>
              <a:t>findActiveSurveys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LocalDate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000">
                <a:solidFill>
                  <a:srgbClr val="96EC3F"/>
                </a:solidFill>
                <a:highlight>
                  <a:srgbClr val="1E1F22"/>
                </a:highlight>
              </a:rPr>
              <a:t>now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000">
                <a:solidFill>
                  <a:srgbClr val="96EC3F"/>
                </a:solidFill>
                <a:highlight>
                  <a:srgbClr val="1E1F22"/>
                </a:highlight>
              </a:rPr>
              <a:t>success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surveys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stream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80F6A7"/>
                </a:solidFill>
                <a:highlight>
                  <a:srgbClr val="1E1F22"/>
                </a:highlight>
              </a:rPr>
              <a:t>map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this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::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convertToDTO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80F6A7"/>
                </a:solidFill>
                <a:highlight>
                  <a:srgbClr val="1E1F22"/>
                </a:highlight>
              </a:rPr>
              <a:t>collect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Collectors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000">
                <a:solidFill>
                  <a:srgbClr val="96EC3F"/>
                </a:solidFill>
                <a:highlight>
                  <a:srgbClr val="1E1F22"/>
                </a:highlight>
              </a:rPr>
              <a:t>toList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()))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0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490" name="Google Shape;490;p43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4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96" name="Google Shape;4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4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SurveyController.java</a:t>
            </a:r>
            <a:endParaRPr sz="3000"/>
          </a:p>
        </p:txBody>
      </p:sp>
      <p:sp>
        <p:nvSpPr>
          <p:cNvPr id="498" name="Google Shape;498;p44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499" name="Google Shape;499;p44"/>
          <p:cNvSpPr txBox="1"/>
          <p:nvPr/>
        </p:nvSpPr>
        <p:spPr>
          <a:xfrm>
            <a:off x="571500" y="2103500"/>
            <a:ext cx="11148000" cy="420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300">
                <a:solidFill>
                  <a:srgbClr val="A0A0A0"/>
                </a:solidFill>
                <a:highlight>
                  <a:srgbClr val="1E1F22"/>
                </a:highlight>
              </a:rPr>
              <a:t>@RestController</a:t>
            </a:r>
            <a:endParaRPr i="1" sz="23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300">
                <a:solidFill>
                  <a:srgbClr val="A0A0A0"/>
                </a:solidFill>
                <a:highlight>
                  <a:srgbClr val="1E1F22"/>
                </a:highlight>
              </a:rPr>
              <a:t>@RequestMapping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300">
                <a:solidFill>
                  <a:srgbClr val="17C6A3"/>
                </a:solidFill>
                <a:highlight>
                  <a:srgbClr val="1E1F22"/>
                </a:highlight>
              </a:rPr>
              <a:t>"/api/surveys"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3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3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300">
                <a:solidFill>
                  <a:srgbClr val="A0A0A0"/>
                </a:solidFill>
                <a:highlight>
                  <a:srgbClr val="1E1F22"/>
                </a:highlight>
              </a:rPr>
              <a:t>@Autowired</a:t>
            </a:r>
            <a:endParaRPr i="1" sz="23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300">
                <a:solidFill>
                  <a:srgbClr val="1290C3"/>
                </a:solidFill>
                <a:highlight>
                  <a:srgbClr val="1E1F22"/>
                </a:highlight>
              </a:rPr>
              <a:t>SurveyService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66E1F8"/>
                </a:solidFill>
                <a:highlight>
                  <a:srgbClr val="1E1F22"/>
                </a:highlight>
              </a:rPr>
              <a:t>surveyService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3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3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300">
                <a:solidFill>
                  <a:srgbClr val="A0A0A0"/>
                </a:solidFill>
                <a:highlight>
                  <a:srgbClr val="1E1F22"/>
                </a:highlight>
              </a:rPr>
              <a:t>@GetMapping</a:t>
            </a:r>
            <a:endParaRPr i="1" sz="23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3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1EB540"/>
                </a:solidFill>
                <a:highlight>
                  <a:srgbClr val="1E1F22"/>
                </a:highlight>
              </a:rPr>
              <a:t>getActiveSurveys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3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3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66E1F8"/>
                </a:solidFill>
                <a:highlight>
                  <a:srgbClr val="1E1F22"/>
                </a:highlight>
              </a:rPr>
              <a:t>surveyService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300">
                <a:solidFill>
                  <a:srgbClr val="A7EC21"/>
                </a:solidFill>
                <a:highlight>
                  <a:srgbClr val="1E1F22"/>
                </a:highlight>
              </a:rPr>
              <a:t>getActiveSurveys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3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30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0" name="Google Shape;500;p44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5" name="Google Shape;50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45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7" name="Google Shape;507;p45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5"/>
          <p:cNvSpPr txBox="1"/>
          <p:nvPr/>
        </p:nvSpPr>
        <p:spPr>
          <a:xfrm>
            <a:off x="571500" y="1124350"/>
            <a:ext cx="88215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取得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所有可填寫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問卷內容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GET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http://localhost:8080/api/surveys</a:t>
            </a:r>
            <a:endParaRPr sz="28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所有可填寫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問卷內容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3" name="Google Shape;51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4" name="Google Shape;51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52500"/>
            <a:ext cx="9906000" cy="47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6"/>
          <p:cNvSpPr txBox="1"/>
          <p:nvPr/>
        </p:nvSpPr>
        <p:spPr>
          <a:xfrm>
            <a:off x="1143001" y="3026508"/>
            <a:ext cx="9906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查詢單一問卷</a:t>
            </a:r>
            <a:endParaRPr sz="8112"/>
          </a:p>
        </p:txBody>
      </p:sp>
      <p:sp>
        <p:nvSpPr>
          <p:cNvPr id="516" name="Google Shape;516;p46"/>
          <p:cNvSpPr/>
          <p:nvPr/>
        </p:nvSpPr>
        <p:spPr>
          <a:xfrm>
            <a:off x="5619750" y="4287522"/>
            <a:ext cx="952500" cy="38100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22" name="Google Shape;52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7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SurveyController.java</a:t>
            </a:r>
            <a:endParaRPr sz="3000"/>
          </a:p>
        </p:txBody>
      </p:sp>
      <p:sp>
        <p:nvSpPr>
          <p:cNvPr id="524" name="Google Shape;524;p47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525" name="Google Shape;525;p47"/>
          <p:cNvSpPr txBox="1"/>
          <p:nvPr/>
        </p:nvSpPr>
        <p:spPr>
          <a:xfrm>
            <a:off x="571500" y="2103500"/>
            <a:ext cx="11148000" cy="352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 [功能] 取得單一問卷詳情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 [技術細節] 明確指定 PathVariable 名稱為 "id"。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@GetMapping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"/{id}/details"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getSurveyDetails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@PathVariable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 u="sng">
                <a:solidFill>
                  <a:srgbClr val="17C6A3"/>
                </a:solidFill>
                <a:highlight>
                  <a:srgbClr val="1E1F22"/>
                </a:highlight>
              </a:rPr>
              <a:t>"id"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surveyService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getSurveyDetails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6" name="Google Shape;526;p4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1" name="Google Shape;53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48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33" name="Google Shape;533;p4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8"/>
          <p:cNvSpPr txBox="1"/>
          <p:nvPr/>
        </p:nvSpPr>
        <p:spPr>
          <a:xfrm>
            <a:off x="571500" y="1124350"/>
            <a:ext cx="88215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取得單一問卷內容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GET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http://localhost:8080/api/surveys/</a:t>
            </a:r>
            <a:r>
              <a:rPr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/details</a:t>
            </a:r>
            <a:endParaRPr sz="28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單一問卷內容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Google Sans Text"/>
              <a:buChar char="○"/>
            </a:pPr>
            <a:r>
              <a:rPr b="1"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1請替換成對應的問卷ID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9" name="Google Shape;53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0" name="Google Shape;54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52500"/>
            <a:ext cx="9906000" cy="47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9"/>
          <p:cNvSpPr txBox="1"/>
          <p:nvPr/>
        </p:nvSpPr>
        <p:spPr>
          <a:xfrm>
            <a:off x="1143001" y="3026508"/>
            <a:ext cx="9906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填寫問卷</a:t>
            </a:r>
            <a:endParaRPr sz="8112"/>
          </a:p>
        </p:txBody>
      </p:sp>
      <p:sp>
        <p:nvSpPr>
          <p:cNvPr id="542" name="Google Shape;542;p49"/>
          <p:cNvSpPr/>
          <p:nvPr/>
        </p:nvSpPr>
        <p:spPr>
          <a:xfrm>
            <a:off x="5619750" y="4287522"/>
            <a:ext cx="952500" cy="38100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0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DTO</a:t>
            </a:r>
            <a:endParaRPr sz="4563"/>
          </a:p>
        </p:txBody>
      </p:sp>
      <p:sp>
        <p:nvSpPr>
          <p:cNvPr id="548" name="Google Shape;548;p50"/>
          <p:cNvSpPr txBox="1"/>
          <p:nvPr/>
        </p:nvSpPr>
        <p:spPr>
          <a:xfrm>
            <a:off x="571500" y="1423525"/>
            <a:ext cx="4953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AnswerDTO.java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ResponseDTO.java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549" name="Google Shape;549;p50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1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Entity</a:t>
            </a:r>
            <a:endParaRPr sz="4563"/>
          </a:p>
        </p:txBody>
      </p:sp>
      <p:sp>
        <p:nvSpPr>
          <p:cNvPr id="555" name="Google Shape;555;p51"/>
          <p:cNvSpPr txBox="1"/>
          <p:nvPr/>
        </p:nvSpPr>
        <p:spPr>
          <a:xfrm>
            <a:off x="571500" y="1423525"/>
            <a:ext cx="4953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SurveyResponse</a:t>
            </a:r>
            <a:r>
              <a:rPr lang="en-US" sz="3000">
                <a:solidFill>
                  <a:schemeClr val="dk1"/>
                </a:solidFill>
              </a:rPr>
              <a:t>.java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ResponseAnswer</a:t>
            </a:r>
            <a:r>
              <a:rPr lang="en-US" sz="3000">
                <a:solidFill>
                  <a:schemeClr val="dk1"/>
                </a:solidFill>
              </a:rPr>
              <a:t>.java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User.java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556" name="Google Shape;556;p51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2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Repository</a:t>
            </a:r>
            <a:endParaRPr sz="4563"/>
          </a:p>
        </p:txBody>
      </p:sp>
      <p:sp>
        <p:nvSpPr>
          <p:cNvPr id="562" name="Google Shape;562;p52"/>
          <p:cNvSpPr txBox="1"/>
          <p:nvPr/>
        </p:nvSpPr>
        <p:spPr>
          <a:xfrm>
            <a:off x="571500" y="1423525"/>
            <a:ext cx="756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SurveyResponseRepository</a:t>
            </a:r>
            <a:r>
              <a:rPr lang="en-US" sz="3000">
                <a:solidFill>
                  <a:schemeClr val="dk1"/>
                </a:solidFill>
              </a:rPr>
              <a:t>.java</a:t>
            </a:r>
            <a:endParaRPr sz="3000"/>
          </a:p>
        </p:txBody>
      </p:sp>
      <p:sp>
        <p:nvSpPr>
          <p:cNvPr id="563" name="Google Shape;563;p52"/>
          <p:cNvSpPr txBox="1"/>
          <p:nvPr/>
        </p:nvSpPr>
        <p:spPr>
          <a:xfrm>
            <a:off x="571500" y="2272550"/>
            <a:ext cx="10304700" cy="2598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CC6C1D"/>
                </a:solidFill>
                <a:highlight>
                  <a:srgbClr val="1E1F22"/>
                </a:highlight>
              </a:rPr>
              <a:t>interface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80F2F6"/>
                </a:solidFill>
                <a:highlight>
                  <a:srgbClr val="1B6291"/>
                </a:highlight>
              </a:rPr>
              <a:t>SurveyResponseRepository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CC6C1D"/>
                </a:solidFill>
                <a:highlight>
                  <a:srgbClr val="1E1F22"/>
                </a:highlight>
              </a:rPr>
              <a:t>extends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80F2F6"/>
                </a:solidFill>
                <a:highlight>
                  <a:srgbClr val="1E1F22"/>
                </a:highlight>
              </a:rPr>
              <a:t>JpaRepository</a:t>
            </a:r>
            <a:r>
              <a:rPr lang="en-US" sz="28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800">
                <a:solidFill>
                  <a:srgbClr val="B166DA"/>
                </a:solidFill>
                <a:highlight>
                  <a:srgbClr val="1E1F22"/>
                </a:highlight>
              </a:rPr>
              <a:t>SurveyResponse</a:t>
            </a:r>
            <a:r>
              <a:rPr lang="en-US" sz="28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B166DA"/>
                </a:solidFill>
                <a:highlight>
                  <a:srgbClr val="1E1F22"/>
                </a:highlight>
              </a:rPr>
              <a:t>Long</a:t>
            </a:r>
            <a:r>
              <a:rPr lang="en-US" sz="28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8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800">
                <a:solidFill>
                  <a:srgbClr val="CC6C1D"/>
                </a:solidFill>
                <a:highlight>
                  <a:srgbClr val="1E1F22"/>
                </a:highlight>
              </a:rPr>
              <a:t>boolean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1EB540"/>
                </a:solidFill>
                <a:highlight>
                  <a:srgbClr val="1E1F22"/>
                </a:highlight>
              </a:rPr>
              <a:t>existsBySurveyIdAndEmail</a:t>
            </a:r>
            <a:r>
              <a:rPr lang="en-US" sz="28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8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79ABFF"/>
                </a:solidFill>
                <a:highlight>
                  <a:srgbClr val="1E1F22"/>
                </a:highlight>
              </a:rPr>
              <a:t>surveyId</a:t>
            </a:r>
            <a:r>
              <a:rPr lang="en-US" sz="28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79ABFF"/>
                </a:solidFill>
                <a:highlight>
                  <a:srgbClr val="1E1F22"/>
                </a:highlight>
              </a:rPr>
              <a:t>email</a:t>
            </a:r>
            <a:r>
              <a:rPr lang="en-US" sz="28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8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8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8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564" name="Google Shape;564;p52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3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70" name="Google Shape;57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3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572" name="Google Shape;572;p53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573" name="Google Shape;573;p53"/>
          <p:cNvSpPr txBox="1"/>
          <p:nvPr/>
        </p:nvSpPr>
        <p:spPr>
          <a:xfrm>
            <a:off x="571500" y="2103500"/>
            <a:ext cx="11148000" cy="4512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900">
                <a:solidFill>
                  <a:srgbClr val="A0A0A0"/>
                </a:solidFill>
                <a:highlight>
                  <a:srgbClr val="1E1F22"/>
                </a:highlight>
              </a:rPr>
              <a:t>@Autowired</a:t>
            </a:r>
            <a:endParaRPr i="1" sz="19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1900">
                <a:solidFill>
                  <a:srgbClr val="80F2F6"/>
                </a:solidFill>
                <a:highlight>
                  <a:srgbClr val="1E1F22"/>
                </a:highlight>
              </a:rPr>
              <a:t>SurveyResponseRepository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66E1F8"/>
                </a:solidFill>
                <a:highlight>
                  <a:srgbClr val="1E1F22"/>
                </a:highlight>
              </a:rPr>
              <a:t>responseRepository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i="1" sz="19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</a:t>
            </a:r>
            <a:endParaRPr sz="1900">
              <a:solidFill>
                <a:srgbClr val="D9E8F7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static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final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b="1" i="1" lang="en-US" sz="1900">
                <a:solidFill>
                  <a:srgbClr val="8DDAF8"/>
                </a:solidFill>
                <a:highlight>
                  <a:srgbClr val="1E1F22"/>
                </a:highlight>
              </a:rPr>
              <a:t>SURVEY_SESSION_KEY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17C6A3"/>
                </a:solidFill>
                <a:highlight>
                  <a:srgbClr val="1E1F22"/>
                </a:highlight>
              </a:rPr>
              <a:t>"TEMP_SURVEY_RESPONSE"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1EB540"/>
                </a:solidFill>
                <a:highlight>
                  <a:srgbClr val="1E1F22"/>
                </a:highlight>
              </a:rPr>
              <a:t>saveToSession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1290C3"/>
                </a:solidFill>
                <a:highlight>
                  <a:srgbClr val="1E1F22"/>
                </a:highlight>
              </a:rPr>
              <a:t>ResponseDTO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79ABFF"/>
                </a:solidFill>
                <a:highlight>
                  <a:srgbClr val="1E1F22"/>
                </a:highlight>
              </a:rPr>
              <a:t>submission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80F2F6"/>
                </a:solidFill>
                <a:highlight>
                  <a:srgbClr val="1E1F22"/>
                </a:highlight>
              </a:rPr>
              <a:t>HttpSession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9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 u="sng">
                <a:solidFill>
                  <a:srgbClr val="D9E8F7"/>
                </a:solidFill>
                <a:highlight>
                  <a:srgbClr val="1E1F22"/>
                </a:highlight>
              </a:rPr>
              <a:t>responseRepository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existsBySurveyIdAndEmail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79ABFF"/>
                </a:solidFill>
                <a:highlight>
                  <a:srgbClr val="1E1F22"/>
                </a:highlight>
              </a:rPr>
              <a:t>submission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getSurveyId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79ABFF"/>
                </a:solidFill>
                <a:highlight>
                  <a:srgbClr val="1E1F22"/>
                </a:highlight>
              </a:rPr>
              <a:t>submission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getEmail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()))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9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1900">
                <a:solidFill>
                  <a:srgbClr val="96EC3F"/>
                </a:solidFill>
                <a:highlight>
                  <a:srgbClr val="1E1F22"/>
                </a:highlight>
              </a:rPr>
              <a:t>error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1900">
                <a:solidFill>
                  <a:srgbClr val="CC81BA"/>
                </a:solidFill>
                <a:highlight>
                  <a:srgbClr val="1E1F22"/>
                </a:highlight>
              </a:rPr>
              <a:t>RspCode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b="1" i="1" lang="en-US" sz="1900">
                <a:solidFill>
                  <a:srgbClr val="8DDAF8"/>
                </a:solidFill>
                <a:highlight>
                  <a:srgbClr val="1E1F22"/>
                </a:highlight>
              </a:rPr>
              <a:t>DUPLICATE_ERROR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17C6A3"/>
                </a:solidFill>
                <a:highlight>
                  <a:srgbClr val="1E1F22"/>
                </a:highlight>
              </a:rPr>
              <a:t>"此 Email 已填寫過本問卷。"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9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9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80F6A7"/>
                </a:solidFill>
                <a:highlight>
                  <a:srgbClr val="1E1F22"/>
                </a:highlight>
              </a:rPr>
              <a:t>setAttribute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b="1" i="1" lang="en-US" sz="1900">
                <a:solidFill>
                  <a:srgbClr val="8DDAF8"/>
                </a:solidFill>
                <a:highlight>
                  <a:srgbClr val="1B6291"/>
                </a:highlight>
              </a:rPr>
              <a:t>SURVEY_SESSION_KEY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79ABFF"/>
                </a:solidFill>
                <a:highlight>
                  <a:srgbClr val="1E1F22"/>
                </a:highlight>
              </a:rPr>
              <a:t>submission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1900">
                <a:solidFill>
                  <a:srgbClr val="96EC3F"/>
                </a:solidFill>
                <a:highlight>
                  <a:srgbClr val="1E1F22"/>
                </a:highlight>
              </a:rPr>
              <a:t>success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</p:txBody>
      </p:sp>
      <p:sp>
        <p:nvSpPr>
          <p:cNvPr id="574" name="Google Shape;574;p53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4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80" name="Google Shape;58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4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SurveyController.java</a:t>
            </a:r>
            <a:endParaRPr sz="3000"/>
          </a:p>
        </p:txBody>
      </p:sp>
      <p:sp>
        <p:nvSpPr>
          <p:cNvPr id="582" name="Google Shape;582;p54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583" name="Google Shape;583;p54"/>
          <p:cNvSpPr txBox="1"/>
          <p:nvPr/>
        </p:nvSpPr>
        <p:spPr>
          <a:xfrm>
            <a:off x="571500" y="2103500"/>
            <a:ext cx="11148000" cy="408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8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808080"/>
                </a:solidFill>
                <a:highlight>
                  <a:srgbClr val="1E1F22"/>
                </a:highlight>
              </a:rPr>
              <a:t>    * [功能] 1. 暫存作答資料至 Session (進入確認頁前呼叫)</a:t>
            </a:r>
            <a:endParaRPr sz="28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8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800">
                <a:solidFill>
                  <a:srgbClr val="A0A0A0"/>
                </a:solidFill>
                <a:highlight>
                  <a:srgbClr val="1E1F22"/>
                </a:highlight>
              </a:rPr>
              <a:t>@PostMapping</a:t>
            </a:r>
            <a:r>
              <a:rPr lang="en-US" sz="28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800">
                <a:solidFill>
                  <a:srgbClr val="17C6A3"/>
                </a:solidFill>
                <a:highlight>
                  <a:srgbClr val="1E1F22"/>
                </a:highlight>
              </a:rPr>
              <a:t>"/session-store"</a:t>
            </a:r>
            <a:r>
              <a:rPr lang="en-US" sz="28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8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8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8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1EB540"/>
                </a:solidFill>
                <a:highlight>
                  <a:srgbClr val="1E1F22"/>
                </a:highlight>
              </a:rPr>
              <a:t>storeInSession</a:t>
            </a:r>
            <a:r>
              <a:rPr lang="en-US" sz="28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800">
                <a:solidFill>
                  <a:srgbClr val="A0A0A0"/>
                </a:solidFill>
                <a:highlight>
                  <a:srgbClr val="1E1F22"/>
                </a:highlight>
              </a:rPr>
              <a:t>@RequestBody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1290C3"/>
                </a:solidFill>
                <a:highlight>
                  <a:srgbClr val="1E1F22"/>
                </a:highlight>
              </a:rPr>
              <a:t>ResponseDTO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79ABFF"/>
                </a:solidFill>
                <a:highlight>
                  <a:srgbClr val="1E1F22"/>
                </a:highlight>
              </a:rPr>
              <a:t>submission</a:t>
            </a:r>
            <a:r>
              <a:rPr lang="en-US" sz="28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80F2F6"/>
                </a:solidFill>
                <a:highlight>
                  <a:srgbClr val="1E1F22"/>
                </a:highlight>
              </a:rPr>
              <a:t>HttpSession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8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8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8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66E1F8"/>
                </a:solidFill>
                <a:highlight>
                  <a:srgbClr val="1E1F22"/>
                </a:highlight>
              </a:rPr>
              <a:t>surveyService</a:t>
            </a:r>
            <a:r>
              <a:rPr lang="en-US" sz="28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800">
                <a:solidFill>
                  <a:srgbClr val="A7EC21"/>
                </a:solidFill>
                <a:highlight>
                  <a:srgbClr val="1E1F22"/>
                </a:highlight>
              </a:rPr>
              <a:t>saveToSession</a:t>
            </a:r>
            <a:r>
              <a:rPr lang="en-US" sz="28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800">
                <a:solidFill>
                  <a:srgbClr val="79ABFF"/>
                </a:solidFill>
                <a:highlight>
                  <a:srgbClr val="1E1F22"/>
                </a:highlight>
              </a:rPr>
              <a:t>submission</a:t>
            </a:r>
            <a:r>
              <a:rPr lang="en-US" sz="28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8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8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8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8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8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800">
              <a:solidFill>
                <a:srgbClr val="808080"/>
              </a:solidFill>
              <a:highlight>
                <a:srgbClr val="1E1F22"/>
              </a:highlight>
            </a:endParaRPr>
          </a:p>
        </p:txBody>
      </p:sp>
      <p:sp>
        <p:nvSpPr>
          <p:cNvPr id="584" name="Google Shape;584;p54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9" name="Google Shape;58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55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91" name="Google Shape;591;p55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55"/>
          <p:cNvSpPr txBox="1"/>
          <p:nvPr/>
        </p:nvSpPr>
        <p:spPr>
          <a:xfrm>
            <a:off x="571500" y="1124350"/>
            <a:ext cx="11227200" cy="46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提交問卷(暫存於Session)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POST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 u="sng">
                <a:solidFill>
                  <a:schemeClr val="hlink"/>
                </a:solidFill>
                <a:latin typeface="Google Sans Text"/>
                <a:ea typeface="Google Sans Text"/>
                <a:cs typeface="Google Sans Text"/>
                <a:sym typeface="Google Sans Text"/>
                <a:hlinkClick r:id="rId4"/>
              </a:rPr>
              <a:t>http://localhost:8080/api/surveys/session-store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Body (JSON):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Google Sans Text"/>
              <a:buChar char="■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參考 </a:t>
            </a:r>
            <a:r>
              <a:rPr b="1" lang="en-US" sz="2800" u="sng">
                <a:solidFill>
                  <a:schemeClr val="hlink"/>
                </a:solidFill>
                <a:latin typeface="Google Sans Text"/>
                <a:ea typeface="Google Sans Text"/>
                <a:cs typeface="Google Sans Text"/>
                <a:sym typeface="Google Sans Text"/>
                <a:hlinkClick r:id="rId5"/>
              </a:rPr>
              <a:t>https://docs.google.com/document/d/1uNZgv125KTMh1R79wOrQgEq-Y7k-pdBbaHQvxTcnhc0/edit?tab=t.jnrb85fal13u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的提交問卷(暫存)</a:t>
            </a:r>
            <a:endParaRPr sz="34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null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98" name="Google Shape;59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56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600" name="Google Shape;600;p56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601" name="Google Shape;601;p56"/>
          <p:cNvSpPr txBox="1"/>
          <p:nvPr/>
        </p:nvSpPr>
        <p:spPr>
          <a:xfrm>
            <a:off x="571500" y="2103500"/>
            <a:ext cx="11148000" cy="39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7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700">
                <a:solidFill>
                  <a:srgbClr val="B166DA"/>
                </a:solidFill>
                <a:highlight>
                  <a:srgbClr val="1E1F22"/>
                </a:highlight>
              </a:rPr>
              <a:t>ResponseDTO</a:t>
            </a:r>
            <a:r>
              <a:rPr lang="en-US" sz="27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1EB540"/>
                </a:solidFill>
                <a:highlight>
                  <a:srgbClr val="1E1F22"/>
                </a:highlight>
              </a:rPr>
              <a:t>getFromSession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700">
                <a:solidFill>
                  <a:srgbClr val="80F2F6"/>
                </a:solidFill>
                <a:highlight>
                  <a:srgbClr val="1E1F22"/>
                </a:highlight>
              </a:rPr>
              <a:t>HttpSession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7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700">
                <a:solidFill>
                  <a:srgbClr val="1290C3"/>
                </a:solidFill>
                <a:highlight>
                  <a:srgbClr val="1E1F22"/>
                </a:highlight>
              </a:rPr>
              <a:t>ResponseDTO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F2F200"/>
                </a:solidFill>
                <a:highlight>
                  <a:srgbClr val="1E1F22"/>
                </a:highlight>
              </a:rPr>
              <a:t>data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700">
                <a:solidFill>
                  <a:srgbClr val="1290C3"/>
                </a:solidFill>
                <a:highlight>
                  <a:srgbClr val="1E1F22"/>
                </a:highlight>
              </a:rPr>
              <a:t>ResponseDTO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700">
                <a:solidFill>
                  <a:srgbClr val="80F6A7"/>
                </a:solidFill>
                <a:highlight>
                  <a:srgbClr val="1E1F22"/>
                </a:highlight>
              </a:rPr>
              <a:t>getAttribute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b="1" i="1" lang="en-US" sz="2700">
                <a:solidFill>
                  <a:srgbClr val="8DDAF8"/>
                </a:solidFill>
                <a:highlight>
                  <a:srgbClr val="1E1F22"/>
                </a:highlight>
              </a:rPr>
              <a:t>SURVEY_SESSION_KEY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7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700">
                <a:solidFill>
                  <a:srgbClr val="F3EC79"/>
                </a:solidFill>
                <a:highlight>
                  <a:srgbClr val="1E1F22"/>
                </a:highlight>
              </a:rPr>
              <a:t>data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E6E6FA"/>
                </a:solidFill>
                <a:highlight>
                  <a:srgbClr val="1E1F22"/>
                </a:highlight>
              </a:rPr>
              <a:t>==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700">
                <a:solidFill>
                  <a:srgbClr val="96EC3F"/>
                </a:solidFill>
                <a:highlight>
                  <a:srgbClr val="1E1F22"/>
                </a:highlight>
              </a:rPr>
              <a:t>error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700">
                <a:solidFill>
                  <a:srgbClr val="CC81BA"/>
                </a:solidFill>
                <a:highlight>
                  <a:srgbClr val="1E1F22"/>
                </a:highlight>
              </a:rPr>
              <a:t>RspCode</a:t>
            </a:r>
            <a:r>
              <a:rPr lang="en-US" sz="2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b="1" i="1" lang="en-US" sz="2700">
                <a:solidFill>
                  <a:srgbClr val="8DDAF8"/>
                </a:solidFill>
                <a:highlight>
                  <a:srgbClr val="1E1F22"/>
                </a:highlight>
              </a:rPr>
              <a:t>NOT_FOUND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7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7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700">
                <a:solidFill>
                  <a:srgbClr val="96EC3F"/>
                </a:solidFill>
                <a:highlight>
                  <a:srgbClr val="1E1F22"/>
                </a:highlight>
              </a:rPr>
              <a:t>success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700">
                <a:solidFill>
                  <a:srgbClr val="F3EC79"/>
                </a:solidFill>
                <a:highlight>
                  <a:srgbClr val="1E1F22"/>
                </a:highlight>
              </a:rPr>
              <a:t>data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7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i="1" sz="2700">
              <a:solidFill>
                <a:srgbClr val="A0A0A0"/>
              </a:solidFill>
              <a:highlight>
                <a:srgbClr val="1E1F22"/>
              </a:highlight>
            </a:endParaRPr>
          </a:p>
        </p:txBody>
      </p:sp>
      <p:sp>
        <p:nvSpPr>
          <p:cNvPr id="602" name="Google Shape;602;p5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08" name="Google Shape;60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57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SurveyController.java</a:t>
            </a:r>
            <a:endParaRPr sz="3000"/>
          </a:p>
        </p:txBody>
      </p:sp>
      <p:sp>
        <p:nvSpPr>
          <p:cNvPr id="610" name="Google Shape;610;p57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611" name="Google Shape;611;p57"/>
          <p:cNvSpPr txBox="1"/>
          <p:nvPr/>
        </p:nvSpPr>
        <p:spPr>
          <a:xfrm>
            <a:off x="571500" y="2103500"/>
            <a:ext cx="11148000" cy="310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 [功能] 2. 從 Session 取得暫存資料 (確認頁唯讀顯示)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@GetMapping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"/session-get"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getFromSession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HttpSession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surveyService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getFromSession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</p:txBody>
      </p:sp>
      <p:sp>
        <p:nvSpPr>
          <p:cNvPr id="612" name="Google Shape;612;p5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7" name="Google Shape;61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8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19" name="Google Shape;619;p5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8"/>
          <p:cNvSpPr txBox="1"/>
          <p:nvPr/>
        </p:nvSpPr>
        <p:spPr>
          <a:xfrm>
            <a:off x="571500" y="1124350"/>
            <a:ext cx="109218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取得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Session中的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問卷內容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GET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http://localhost:8080/api/surveys/session-get</a:t>
            </a:r>
            <a:endParaRPr sz="28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問卷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作答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內容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26" name="Google Shape;62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59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628" name="Google Shape;628;p59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629" name="Google Shape;629;p59"/>
          <p:cNvSpPr txBox="1"/>
          <p:nvPr/>
        </p:nvSpPr>
        <p:spPr>
          <a:xfrm>
            <a:off x="571500" y="2103500"/>
            <a:ext cx="11148000" cy="297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rgbClr val="A0A0A0"/>
                </a:solidFill>
                <a:highlight>
                  <a:srgbClr val="1E1F22"/>
                </a:highlight>
              </a:rPr>
              <a:t>@Transactional</a:t>
            </a:r>
            <a:endParaRPr i="1" sz="16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1EB540"/>
                </a:solidFill>
                <a:highlight>
                  <a:srgbClr val="1E1F22"/>
                </a:highlight>
              </a:rPr>
              <a:t>commitFromSession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80F2F6"/>
                </a:solidFill>
                <a:highlight>
                  <a:srgbClr val="1E1F22"/>
                </a:highlight>
              </a:rPr>
              <a:t>HttpSession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6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>
                <a:solidFill>
                  <a:srgbClr val="1290C3"/>
                </a:solidFill>
                <a:highlight>
                  <a:srgbClr val="1E1F22"/>
                </a:highlight>
              </a:rPr>
              <a:t>ResponseDTO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2F200"/>
                </a:solidFill>
                <a:highlight>
                  <a:srgbClr val="1E1F22"/>
                </a:highlight>
              </a:rPr>
              <a:t>submission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1290C3"/>
                </a:solidFill>
                <a:highlight>
                  <a:srgbClr val="1E1F22"/>
                </a:highlight>
              </a:rPr>
              <a:t>ResponseDTO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80F6A7"/>
                </a:solidFill>
                <a:highlight>
                  <a:srgbClr val="1E1F22"/>
                </a:highlight>
              </a:rPr>
              <a:t>getAttribute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b="1" i="1" lang="en-US" sz="1600">
                <a:solidFill>
                  <a:srgbClr val="8DDAF8"/>
                </a:solidFill>
                <a:highlight>
                  <a:srgbClr val="1E1F22"/>
                </a:highlight>
              </a:rPr>
              <a:t>SURVEY_SESSION_KEY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submission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==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1600">
                <a:solidFill>
                  <a:srgbClr val="96EC3F"/>
                </a:solidFill>
                <a:highlight>
                  <a:srgbClr val="1E1F22"/>
                </a:highlight>
              </a:rPr>
              <a:t>error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1600">
                <a:solidFill>
                  <a:srgbClr val="CC81BA"/>
                </a:solidFill>
                <a:highlight>
                  <a:srgbClr val="1E1F22"/>
                </a:highlight>
              </a:rPr>
              <a:t>RspCode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b="1" i="1" lang="en-US" sz="1600">
                <a:solidFill>
                  <a:srgbClr val="8DDAF8"/>
                </a:solidFill>
                <a:highlight>
                  <a:srgbClr val="1E1F22"/>
                </a:highlight>
              </a:rPr>
              <a:t>NOT_FOUND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2F200"/>
                </a:solidFill>
                <a:highlight>
                  <a:srgbClr val="1E1F22"/>
                </a:highlight>
              </a:rPr>
              <a:t>response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A7EC21"/>
                </a:solidFill>
                <a:highlight>
                  <a:srgbClr val="1E1F22"/>
                </a:highlight>
              </a:rPr>
              <a:t>submitResponse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submission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A7EC21"/>
                </a:solidFill>
                <a:highlight>
                  <a:srgbClr val="1E1F22"/>
                </a:highlight>
              </a:rPr>
              <a:t>getSurveyId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submission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A7EC21"/>
                </a:solidFill>
                <a:highlight>
                  <a:srgbClr val="1E1F22"/>
                </a:highlight>
              </a:rPr>
              <a:t>getCode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==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6897BB"/>
                </a:solidFill>
                <a:highlight>
                  <a:srgbClr val="1E1F22"/>
                </a:highlight>
              </a:rPr>
              <a:t>200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6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16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80F6A7"/>
                </a:solidFill>
                <a:highlight>
                  <a:srgbClr val="1E1F22"/>
                </a:highlight>
              </a:rPr>
              <a:t>removeAttribute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b="1" i="1" lang="en-US" sz="1600">
                <a:solidFill>
                  <a:srgbClr val="8DDAF8"/>
                </a:solidFill>
                <a:highlight>
                  <a:srgbClr val="1E1F22"/>
                </a:highlight>
              </a:rPr>
              <a:t>SURVEY_SESSION_KEY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6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7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630" name="Google Shape;630;p5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0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36" name="Google Shape;63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60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638" name="Google Shape;638;p60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639" name="Google Shape;639;p60"/>
          <p:cNvSpPr txBox="1"/>
          <p:nvPr/>
        </p:nvSpPr>
        <p:spPr>
          <a:xfrm>
            <a:off x="571500" y="2103500"/>
            <a:ext cx="8926500" cy="4512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1900">
                <a:solidFill>
                  <a:srgbClr val="A0A0A0"/>
                </a:solidFill>
                <a:highlight>
                  <a:srgbClr val="1E1F22"/>
                </a:highlight>
              </a:rPr>
              <a:t>@Transactional</a:t>
            </a:r>
            <a:endParaRPr i="1" sz="19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1EB540"/>
                </a:solidFill>
                <a:highlight>
                  <a:srgbClr val="1E1F22"/>
                </a:highlight>
              </a:rPr>
              <a:t>submitResponse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79ABFF"/>
                </a:solidFill>
                <a:highlight>
                  <a:srgbClr val="1E1F22"/>
                </a:highlight>
              </a:rPr>
              <a:t>surveyId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1290C3"/>
                </a:solidFill>
                <a:highlight>
                  <a:srgbClr val="1E1F22"/>
                </a:highlight>
              </a:rPr>
              <a:t>ResponseDTO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79ABFF"/>
                </a:solidFill>
                <a:highlight>
                  <a:srgbClr val="1E1F22"/>
                </a:highlight>
              </a:rPr>
              <a:t>submission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9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900">
                <a:solidFill>
                  <a:srgbClr val="1290C3"/>
                </a:solidFill>
                <a:highlight>
                  <a:srgbClr val="1E1F22"/>
                </a:highlight>
              </a:rPr>
              <a:t>Survey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2F200"/>
                </a:solidFill>
                <a:highlight>
                  <a:srgbClr val="1B6291"/>
                </a:highlight>
              </a:rPr>
              <a:t>survey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66E1F8"/>
                </a:solidFill>
                <a:highlight>
                  <a:srgbClr val="1E1F22"/>
                </a:highlight>
              </a:rPr>
              <a:t>surveyRepository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80F6A7"/>
                </a:solidFill>
                <a:highlight>
                  <a:srgbClr val="1E1F22"/>
                </a:highlight>
              </a:rPr>
              <a:t>findById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79ABFF"/>
                </a:solidFill>
                <a:highlight>
                  <a:srgbClr val="1E1F22"/>
                </a:highlight>
              </a:rPr>
              <a:t>surveyId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orElse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F3EC79"/>
                </a:solidFill>
                <a:highlight>
                  <a:srgbClr val="1B6291"/>
                </a:highlight>
              </a:rPr>
              <a:t>survey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==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1900">
                <a:solidFill>
                  <a:srgbClr val="96EC3F"/>
                </a:solidFill>
                <a:highlight>
                  <a:srgbClr val="1E1F22"/>
                </a:highlight>
              </a:rPr>
              <a:t>error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1900">
                <a:solidFill>
                  <a:srgbClr val="CC81BA"/>
                </a:solidFill>
                <a:highlight>
                  <a:srgbClr val="1E1F22"/>
                </a:highlight>
              </a:rPr>
              <a:t>RspCode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b="1" i="1" lang="en-US" sz="1900">
                <a:solidFill>
                  <a:srgbClr val="8DDAF8"/>
                </a:solidFill>
                <a:highlight>
                  <a:srgbClr val="1E1F22"/>
                </a:highlight>
              </a:rPr>
              <a:t>NOT_FOUND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900">
                <a:solidFill>
                  <a:srgbClr val="1290C3"/>
                </a:solidFill>
                <a:highlight>
                  <a:srgbClr val="1E1F22"/>
                </a:highlight>
              </a:rPr>
              <a:t>SurveyResponse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2F200"/>
                </a:solidFill>
                <a:highlight>
                  <a:srgbClr val="1E1F22"/>
                </a:highlight>
              </a:rPr>
              <a:t>response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SurveyResponse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setSurvey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F3EC79"/>
                </a:solidFill>
                <a:highlight>
                  <a:srgbClr val="1B6291"/>
                </a:highlight>
              </a:rPr>
              <a:t>survey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 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setSubmittedAt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1290C3"/>
                </a:solidFill>
                <a:highlight>
                  <a:srgbClr val="1E1F22"/>
                </a:highlight>
              </a:rPr>
              <a:t>LocalDateTime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1900">
                <a:solidFill>
                  <a:srgbClr val="96EC3F"/>
                </a:solidFill>
                <a:highlight>
                  <a:srgbClr val="1E1F22"/>
                </a:highlight>
              </a:rPr>
              <a:t>now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setName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79ABFF"/>
                </a:solidFill>
                <a:highlight>
                  <a:srgbClr val="1E1F22"/>
                </a:highlight>
              </a:rPr>
              <a:t>submission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getName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 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setPhone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79ABFF"/>
                </a:solidFill>
                <a:highlight>
                  <a:srgbClr val="1E1F22"/>
                </a:highlight>
              </a:rPr>
              <a:t>submission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getPhone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setEmail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79ABFF"/>
                </a:solidFill>
                <a:highlight>
                  <a:srgbClr val="1E1F22"/>
                </a:highlight>
              </a:rPr>
              <a:t>submission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getEmail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 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setAge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79ABFF"/>
                </a:solidFill>
                <a:highlight>
                  <a:srgbClr val="1E1F22"/>
                </a:highlight>
              </a:rPr>
              <a:t>submission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A7EC21"/>
                </a:solidFill>
                <a:highlight>
                  <a:srgbClr val="1E1F22"/>
                </a:highlight>
              </a:rPr>
              <a:t>getAge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endParaRPr i="1" sz="1900">
              <a:solidFill>
                <a:srgbClr val="A0A0A0"/>
              </a:solidFill>
              <a:highlight>
                <a:srgbClr val="1E1F22"/>
              </a:highlight>
            </a:endParaRPr>
          </a:p>
        </p:txBody>
      </p:sp>
      <p:sp>
        <p:nvSpPr>
          <p:cNvPr id="640" name="Google Shape;640;p60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1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46" name="Google Shape;64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61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648" name="Google Shape;648;p61"/>
          <p:cNvSpPr txBox="1"/>
          <p:nvPr/>
        </p:nvSpPr>
        <p:spPr>
          <a:xfrm>
            <a:off x="0" y="1071625"/>
            <a:ext cx="11960700" cy="55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for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 u="sng">
                <a:solidFill>
                  <a:srgbClr val="1290C3"/>
                </a:solidFill>
                <a:highlight>
                  <a:srgbClr val="1E1F22"/>
                </a:highlight>
              </a:rPr>
              <a:t>AnswerDTO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66E1F8"/>
                </a:solidFill>
                <a:highlight>
                  <a:srgbClr val="1E1F22"/>
                </a:highlight>
              </a:rPr>
              <a:t>aDto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: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submission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getAnswers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6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 u="sng">
                <a:solidFill>
                  <a:srgbClr val="1290C3"/>
                </a:solidFill>
                <a:highlight>
                  <a:srgbClr val="1E1F22"/>
                </a:highlight>
              </a:rPr>
              <a:t>ResponseAnswer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2F200"/>
                </a:solidFill>
                <a:highlight>
                  <a:srgbClr val="1E1F22"/>
                </a:highlight>
              </a:rPr>
              <a:t>answer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 u="sng">
                <a:solidFill>
                  <a:srgbClr val="1290C3"/>
                </a:solidFill>
                <a:highlight>
                  <a:srgbClr val="1E1F22"/>
                </a:highlight>
              </a:rPr>
              <a:t>ResponseAnswer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answer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setSurveyResponse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 u="sng">
                <a:solidFill>
                  <a:srgbClr val="D9E8F7"/>
                </a:solidFill>
                <a:highlight>
                  <a:srgbClr val="1E1F22"/>
                </a:highlight>
              </a:rPr>
              <a:t>response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 u="sng">
                <a:solidFill>
                  <a:srgbClr val="1290C3"/>
                </a:solidFill>
                <a:highlight>
                  <a:srgbClr val="1E1F22"/>
                </a:highlight>
              </a:rPr>
              <a:t>Question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2F200"/>
                </a:solidFill>
                <a:highlight>
                  <a:srgbClr val="1E1F22"/>
                </a:highlight>
              </a:rPr>
              <a:t>question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 u="sng">
                <a:solidFill>
                  <a:srgbClr val="D9E8F7"/>
                </a:solidFill>
                <a:highlight>
                  <a:srgbClr val="1E1F22"/>
                </a:highlight>
              </a:rPr>
              <a:t>survey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getQuestions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stream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filter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F2F200"/>
                </a:solidFill>
                <a:highlight>
                  <a:srgbClr val="1E1F22"/>
                </a:highlight>
              </a:rPr>
              <a:t>q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q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getId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equals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aDto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getQuestionId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()))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findFirst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orElse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question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==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continue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answer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setQuestion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question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question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getType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equals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17C6A3"/>
                </a:solidFill>
                <a:highlight>
                  <a:srgbClr val="1E1F22"/>
                </a:highlight>
              </a:rPr>
              <a:t>"TEXT"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))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6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answer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setAnswerText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 u="sng">
                <a:solidFill>
                  <a:srgbClr val="66E1F8"/>
                </a:solidFill>
                <a:highlight>
                  <a:srgbClr val="1E1F22"/>
                </a:highlight>
              </a:rPr>
              <a:t>aDto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getAnswerText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else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6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1600" u="sng">
                <a:solidFill>
                  <a:srgbClr val="1290C3"/>
                </a:solidFill>
                <a:highlight>
                  <a:srgbClr val="1E1F22"/>
                </a:highlight>
              </a:rPr>
              <a:t>List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600" u="sng">
                <a:solidFill>
                  <a:srgbClr val="B166DA"/>
                </a:solidFill>
                <a:highlight>
                  <a:srgbClr val="1E1F22"/>
                </a:highlight>
              </a:rPr>
              <a:t>Option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2F200"/>
                </a:solidFill>
                <a:highlight>
                  <a:srgbClr val="1E1F22"/>
                </a:highlight>
              </a:rPr>
              <a:t>selected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question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getOptions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stream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endParaRPr sz="16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            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filter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F2F200"/>
                </a:solidFill>
                <a:highlight>
                  <a:srgbClr val="1E1F22"/>
                </a:highlight>
              </a:rPr>
              <a:t>o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aDto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getOptionIds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contains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o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getId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()))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collect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 u="sng">
                <a:solidFill>
                  <a:srgbClr val="D9E8F7"/>
                </a:solidFill>
                <a:highlight>
                  <a:srgbClr val="1E1F22"/>
                </a:highlight>
              </a:rPr>
              <a:t>Collectors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toList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answer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setSelectedOptions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selected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answer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setAnswerText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selected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stream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map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 u="sng">
                <a:solidFill>
                  <a:srgbClr val="D9E8F7"/>
                </a:solidFill>
                <a:highlight>
                  <a:srgbClr val="1E1F22"/>
                </a:highlight>
              </a:rPr>
              <a:t>Option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::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getOptionText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collect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 u="sng">
                <a:solidFill>
                  <a:srgbClr val="D9E8F7"/>
                </a:solidFill>
                <a:highlight>
                  <a:srgbClr val="1E1F22"/>
                </a:highlight>
              </a:rPr>
              <a:t>Collectors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joining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17C6A3"/>
                </a:solidFill>
                <a:highlight>
                  <a:srgbClr val="1E1F22"/>
                </a:highlight>
              </a:rPr>
              <a:t>";"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)))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6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600" u="sng">
                <a:solidFill>
                  <a:srgbClr val="D9E8F7"/>
                </a:solidFill>
                <a:highlight>
                  <a:srgbClr val="1E1F22"/>
                </a:highlight>
              </a:rPr>
              <a:t>response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getAnswers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add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F3EC79"/>
                </a:solidFill>
                <a:highlight>
                  <a:srgbClr val="1E1F22"/>
                </a:highlight>
              </a:rPr>
              <a:t>answer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6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u="sng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600" u="sng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responseRepository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save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response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6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AppResponse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success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6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16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6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r>
              <a:rPr lang="en-US" sz="1600">
                <a:solidFill>
                  <a:srgbClr val="D9E8F7"/>
                </a:solidFill>
                <a:highlight>
                  <a:srgbClr val="1E1F22"/>
                </a:highlight>
              </a:rPr>
              <a:t>    </a:t>
            </a:r>
            <a:endParaRPr sz="16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649" name="Google Shape;649;p61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2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55" name="Google Shape;65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62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SurveyController.java</a:t>
            </a:r>
            <a:endParaRPr sz="3000"/>
          </a:p>
        </p:txBody>
      </p:sp>
      <p:sp>
        <p:nvSpPr>
          <p:cNvPr id="657" name="Google Shape;657;p62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658" name="Google Shape;658;p62"/>
          <p:cNvSpPr txBox="1"/>
          <p:nvPr/>
        </p:nvSpPr>
        <p:spPr>
          <a:xfrm>
            <a:off x="571500" y="2103500"/>
            <a:ext cx="11148000" cy="310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 [功能] 3. 正式提交問卷 (從 Session 轉存資料庫)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@PostMapping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"/confirm"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confirmSubmit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HttpSession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surveyService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 u="sng">
                <a:solidFill>
                  <a:srgbClr val="D9E8F7"/>
                </a:solidFill>
                <a:highlight>
                  <a:srgbClr val="1E1F22"/>
                </a:highlight>
              </a:rPr>
              <a:t>commitFromSession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</p:txBody>
      </p:sp>
      <p:sp>
        <p:nvSpPr>
          <p:cNvPr id="659" name="Google Shape;659;p62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4" name="Google Shape;66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63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66" name="Google Shape;666;p63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63"/>
          <p:cNvSpPr txBox="1"/>
          <p:nvPr/>
        </p:nvSpPr>
        <p:spPr>
          <a:xfrm>
            <a:off x="571500" y="1124350"/>
            <a:ext cx="88215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將Session內容儲存到資料庫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POST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http://localhost:8080/api/surveys/confirm</a:t>
            </a:r>
            <a:endParaRPr sz="28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單一問卷內容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Google Sans Text"/>
              <a:buChar char="○"/>
            </a:pPr>
            <a:r>
              <a:rPr b="1"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1請替換成對應的問卷ID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2" name="Google Shape;67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3" name="Google Shape;673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52500"/>
            <a:ext cx="9906000" cy="47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64"/>
          <p:cNvSpPr txBox="1"/>
          <p:nvPr/>
        </p:nvSpPr>
        <p:spPr>
          <a:xfrm>
            <a:off x="1143001" y="3026508"/>
            <a:ext cx="9906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回饋</a:t>
            </a:r>
            <a:endParaRPr sz="8112"/>
          </a:p>
        </p:txBody>
      </p:sp>
      <p:sp>
        <p:nvSpPr>
          <p:cNvPr id="675" name="Google Shape;675;p64"/>
          <p:cNvSpPr/>
          <p:nvPr/>
        </p:nvSpPr>
        <p:spPr>
          <a:xfrm>
            <a:off x="5619750" y="4287522"/>
            <a:ext cx="952500" cy="38100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5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Repository</a:t>
            </a:r>
            <a:endParaRPr sz="4563"/>
          </a:p>
        </p:txBody>
      </p:sp>
      <p:sp>
        <p:nvSpPr>
          <p:cNvPr id="681" name="Google Shape;681;p65"/>
          <p:cNvSpPr txBox="1"/>
          <p:nvPr/>
        </p:nvSpPr>
        <p:spPr>
          <a:xfrm>
            <a:off x="571500" y="1423525"/>
            <a:ext cx="756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SurveyResponseRepository.java</a:t>
            </a:r>
            <a:endParaRPr sz="3000"/>
          </a:p>
        </p:txBody>
      </p:sp>
      <p:sp>
        <p:nvSpPr>
          <p:cNvPr id="682" name="Google Shape;682;p65"/>
          <p:cNvSpPr txBox="1"/>
          <p:nvPr/>
        </p:nvSpPr>
        <p:spPr>
          <a:xfrm>
            <a:off x="571500" y="2272550"/>
            <a:ext cx="10304700" cy="55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List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400">
                <a:solidFill>
                  <a:srgbClr val="B166DA"/>
                </a:solidFill>
                <a:highlight>
                  <a:srgbClr val="1E1F22"/>
                </a:highlight>
              </a:rPr>
              <a:t>SurveyResponse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findBySurveyIdOrderByIdDesc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surveyId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36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683" name="Google Shape;683;p65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89" name="Google Shape;68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66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691" name="Google Shape;691;p66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692" name="Google Shape;692;p66"/>
          <p:cNvSpPr txBox="1"/>
          <p:nvPr/>
        </p:nvSpPr>
        <p:spPr>
          <a:xfrm>
            <a:off x="571500" y="2103500"/>
            <a:ext cx="8926500" cy="438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1EB540"/>
                </a:solidFill>
                <a:highlight>
                  <a:srgbClr val="1B6291"/>
                </a:highlight>
              </a:rPr>
              <a:t>getSurveyResponses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0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000">
                <a:solidFill>
                  <a:srgbClr val="80F2F6"/>
                </a:solidFill>
                <a:highlight>
                  <a:srgbClr val="1E1F22"/>
                </a:highlight>
              </a:rPr>
              <a:t>List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000">
                <a:solidFill>
                  <a:srgbClr val="B166DA"/>
                </a:solidFill>
                <a:highlight>
                  <a:srgbClr val="1E1F22"/>
                </a:highlight>
              </a:rPr>
              <a:t>SurveyResponse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2F200"/>
                </a:solidFill>
                <a:highlight>
                  <a:srgbClr val="1E1F22"/>
                </a:highlight>
              </a:rPr>
              <a:t>responses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66E1F8"/>
                </a:solidFill>
                <a:highlight>
                  <a:srgbClr val="1E1F22"/>
                </a:highlight>
              </a:rPr>
              <a:t>responseRepository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80F6A7"/>
                </a:solidFill>
                <a:highlight>
                  <a:srgbClr val="1E1F22"/>
                </a:highlight>
              </a:rPr>
              <a:t>findBySurveyIdOrderByIdDesc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000">
                <a:solidFill>
                  <a:srgbClr val="96EC3F"/>
                </a:solidFill>
                <a:highlight>
                  <a:srgbClr val="1E1F22"/>
                </a:highlight>
              </a:rPr>
              <a:t>success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responses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stream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80F6A7"/>
                </a:solidFill>
                <a:highlight>
                  <a:srgbClr val="1E1F22"/>
                </a:highlight>
              </a:rPr>
              <a:t>map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F2F200"/>
                </a:solidFill>
                <a:highlight>
                  <a:srgbClr val="1E1F22"/>
                </a:highlight>
              </a:rPr>
              <a:t>r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0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000">
                <a:solidFill>
                  <a:srgbClr val="80F2F6"/>
                </a:solidFill>
                <a:highlight>
                  <a:srgbClr val="1E1F22"/>
                </a:highlight>
              </a:rPr>
              <a:t>Map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000">
                <a:solidFill>
                  <a:srgbClr val="B166DA"/>
                </a:solidFill>
                <a:highlight>
                  <a:srgbClr val="1E1F22"/>
                </a:highlight>
              </a:rPr>
              <a:t>String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B166DA"/>
                </a:solidFill>
                <a:highlight>
                  <a:srgbClr val="1E1F22"/>
                </a:highlight>
              </a:rPr>
              <a:t>Object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2F200"/>
                </a:solidFill>
                <a:highlight>
                  <a:srgbClr val="1E1F22"/>
                </a:highlight>
              </a:rPr>
              <a:t>map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HashMap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&lt;&gt;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map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17C6A3"/>
                </a:solidFill>
                <a:highlight>
                  <a:srgbClr val="1E1F22"/>
                </a:highlight>
              </a:rPr>
              <a:t>"responseId"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r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getId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map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17C6A3"/>
                </a:solidFill>
                <a:highlight>
                  <a:srgbClr val="1E1F22"/>
                </a:highlight>
              </a:rPr>
              <a:t>"userName"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r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getName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map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17C6A3"/>
                </a:solidFill>
                <a:highlight>
                  <a:srgbClr val="1E1F22"/>
                </a:highlight>
              </a:rPr>
              <a:t>"userEmail"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r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getEmail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map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17C6A3"/>
                </a:solidFill>
                <a:highlight>
                  <a:srgbClr val="1E1F22"/>
                </a:highlight>
              </a:rPr>
              <a:t>"submittedAt"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r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getSubmittedAt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map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})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80F6A7"/>
                </a:solidFill>
                <a:highlight>
                  <a:srgbClr val="1E1F22"/>
                </a:highlight>
              </a:rPr>
              <a:t>collect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Collectors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000">
                <a:solidFill>
                  <a:srgbClr val="96EC3F"/>
                </a:solidFill>
                <a:highlight>
                  <a:srgbClr val="1E1F22"/>
                </a:highlight>
              </a:rPr>
              <a:t>toList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()))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5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693" name="Google Shape;693;p6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99" name="Google Shape;69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67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AdminSurveyController</a:t>
            </a:r>
            <a:r>
              <a:rPr lang="en-US" sz="3000">
                <a:solidFill>
                  <a:schemeClr val="dk1"/>
                </a:solidFill>
              </a:rPr>
              <a:t>.java</a:t>
            </a:r>
            <a:endParaRPr sz="3000"/>
          </a:p>
        </p:txBody>
      </p:sp>
      <p:sp>
        <p:nvSpPr>
          <p:cNvPr id="701" name="Google Shape;701;p67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702" name="Google Shape;702;p67"/>
          <p:cNvSpPr txBox="1"/>
          <p:nvPr/>
        </p:nvSpPr>
        <p:spPr>
          <a:xfrm>
            <a:off x="571500" y="2103500"/>
            <a:ext cx="11148000" cy="36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5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808080"/>
                </a:solidFill>
                <a:highlight>
                  <a:srgbClr val="1E1F22"/>
                </a:highlight>
              </a:rPr>
              <a:t>    * [功能] 取得該問卷的所有填寫者清單</a:t>
            </a:r>
            <a:endParaRPr sz="25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5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500">
                <a:solidFill>
                  <a:srgbClr val="A0A0A0"/>
                </a:solidFill>
                <a:highlight>
                  <a:srgbClr val="1E1F22"/>
                </a:highlight>
              </a:rPr>
              <a:t>@GetMapping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500">
                <a:solidFill>
                  <a:srgbClr val="17C6A3"/>
                </a:solidFill>
                <a:highlight>
                  <a:srgbClr val="1E1F22"/>
                </a:highlight>
              </a:rPr>
              <a:t>"/{id}/responses"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5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5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5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5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500">
                <a:solidFill>
                  <a:srgbClr val="1EB540"/>
                </a:solidFill>
                <a:highlight>
                  <a:srgbClr val="1E1F22"/>
                </a:highlight>
              </a:rPr>
              <a:t>getSurveyResponses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500">
                <a:solidFill>
                  <a:srgbClr val="A0A0A0"/>
                </a:solidFill>
                <a:highlight>
                  <a:srgbClr val="1E1F22"/>
                </a:highlight>
              </a:rPr>
              <a:t>@PathVariable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500" u="sng">
                <a:solidFill>
                  <a:srgbClr val="17C6A3"/>
                </a:solidFill>
                <a:highlight>
                  <a:srgbClr val="1E1F22"/>
                </a:highlight>
              </a:rPr>
              <a:t>"id"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5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5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5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5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500">
                <a:solidFill>
                  <a:srgbClr val="66E1F8"/>
                </a:solidFill>
                <a:highlight>
                  <a:srgbClr val="1E1F22"/>
                </a:highlight>
              </a:rPr>
              <a:t>surveyService</a:t>
            </a:r>
            <a:r>
              <a:rPr lang="en-US" sz="25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500">
                <a:solidFill>
                  <a:srgbClr val="A7EC21"/>
                </a:solidFill>
                <a:highlight>
                  <a:srgbClr val="1E1F22"/>
                </a:highlight>
              </a:rPr>
              <a:t>getSurveyResponses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5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5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5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3300">
              <a:solidFill>
                <a:srgbClr val="808080"/>
              </a:solidFill>
              <a:highlight>
                <a:srgbClr val="1E1F22"/>
              </a:highlight>
            </a:endParaRPr>
          </a:p>
        </p:txBody>
      </p:sp>
      <p:sp>
        <p:nvSpPr>
          <p:cNvPr id="703" name="Google Shape;703;p6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8" name="Google Shape;70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68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571500" y="1124350"/>
            <a:ext cx="111195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取得該問卷的所有填寫者清單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GET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http://localhost:8080/api/admin/surveys/</a:t>
            </a:r>
            <a:r>
              <a:rPr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/responses</a:t>
            </a:r>
            <a:endParaRPr sz="28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單一問卷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的所有填寫者清單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Google Sans Text"/>
              <a:buChar char="○"/>
            </a:pPr>
            <a:r>
              <a:rPr b="1"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1請替換成對應的問卷ID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17" name="Google Shape;71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69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719" name="Google Shape;719;p69"/>
          <p:cNvSpPr txBox="1"/>
          <p:nvPr/>
        </p:nvSpPr>
        <p:spPr>
          <a:xfrm>
            <a:off x="571500" y="1170844"/>
            <a:ext cx="8926500" cy="556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1EB540"/>
                </a:solidFill>
                <a:highlight>
                  <a:srgbClr val="1B6291"/>
                </a:highlight>
              </a:rPr>
              <a:t>getResponseDetail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79ABFF"/>
                </a:solidFill>
                <a:highlight>
                  <a:srgbClr val="1E1F22"/>
                </a:highlight>
              </a:rPr>
              <a:t>responseId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7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1290C3"/>
                </a:solidFill>
                <a:highlight>
                  <a:srgbClr val="1E1F22"/>
                </a:highlight>
              </a:rPr>
              <a:t>SurveyResponse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response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66E1F8"/>
                </a:solidFill>
                <a:highlight>
                  <a:srgbClr val="1E1F22"/>
                </a:highlight>
              </a:rPr>
              <a:t>responseRepository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findById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79ABFF"/>
                </a:solidFill>
                <a:highlight>
                  <a:srgbClr val="1E1F22"/>
                </a:highlight>
              </a:rPr>
              <a:t>responseId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orElse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==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1700">
                <a:solidFill>
                  <a:srgbClr val="96EC3F"/>
                </a:solidFill>
                <a:highlight>
                  <a:srgbClr val="1E1F22"/>
                </a:highlight>
              </a:rPr>
              <a:t>error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1700">
                <a:solidFill>
                  <a:srgbClr val="CC81BA"/>
                </a:solidFill>
                <a:highlight>
                  <a:srgbClr val="1E1F22"/>
                </a:highlight>
              </a:rPr>
              <a:t>RspCode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b="1" i="1" lang="en-US" sz="1700">
                <a:solidFill>
                  <a:srgbClr val="8DDAF8"/>
                </a:solidFill>
                <a:highlight>
                  <a:srgbClr val="1E1F22"/>
                </a:highlight>
              </a:rPr>
              <a:t>NOT_FOUND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80F2F6"/>
                </a:solidFill>
                <a:highlight>
                  <a:srgbClr val="1E1F22"/>
                </a:highlight>
              </a:rPr>
              <a:t>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String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Object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result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HashMap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&lt;&gt;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result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"responseId"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getId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result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"userName"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getName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result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"submittedAt"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getSubmittedAt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result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"surveyTitle"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getSurvey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getTitle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80F2F6"/>
                </a:solidFill>
                <a:highlight>
                  <a:srgbClr val="1E1F22"/>
                </a:highlight>
              </a:rPr>
              <a:t>List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700">
                <a:solidFill>
                  <a:srgbClr val="80F2F6"/>
                </a:solidFill>
                <a:highlight>
                  <a:srgbClr val="1E1F22"/>
                </a:highlight>
              </a:rPr>
              <a:t>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String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Object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&gt;&gt;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details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getAnswers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stream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map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a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7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1700">
                <a:solidFill>
                  <a:srgbClr val="80F2F6"/>
                </a:solidFill>
                <a:highlight>
                  <a:srgbClr val="1E1F22"/>
                </a:highlight>
              </a:rPr>
              <a:t>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String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Object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aMap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HashMap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&lt;&gt;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aMap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"questionTitle"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a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getQuestion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getTitle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aMap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"type"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a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getQuestion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getType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aMap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"answer"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a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getAnswerText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808080"/>
                </a:solidFill>
                <a:highlight>
                  <a:srgbClr val="1E1F22"/>
                </a:highlight>
              </a:rPr>
              <a:t>// 多選題已在存入時串接好</a:t>
            </a:r>
            <a:endParaRPr sz="17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aMap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})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collect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290C3"/>
                </a:solidFill>
                <a:highlight>
                  <a:srgbClr val="1E1F22"/>
                </a:highlight>
              </a:rPr>
              <a:t>Collectors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1700">
                <a:solidFill>
                  <a:srgbClr val="96EC3F"/>
                </a:solidFill>
                <a:highlight>
                  <a:srgbClr val="1E1F22"/>
                </a:highlight>
              </a:rPr>
              <a:t>toList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result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"details"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details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1700">
                <a:solidFill>
                  <a:srgbClr val="96EC3F"/>
                </a:solidFill>
                <a:highlight>
                  <a:srgbClr val="1E1F22"/>
                </a:highlight>
              </a:rPr>
              <a:t>success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result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2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720" name="Google Shape;720;p6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0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26" name="Google Shape;726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70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AdminSurveyController.java</a:t>
            </a:r>
            <a:endParaRPr sz="3000"/>
          </a:p>
        </p:txBody>
      </p:sp>
      <p:sp>
        <p:nvSpPr>
          <p:cNvPr id="728" name="Google Shape;728;p70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729" name="Google Shape;729;p70"/>
          <p:cNvSpPr txBox="1"/>
          <p:nvPr/>
        </p:nvSpPr>
        <p:spPr>
          <a:xfrm>
            <a:off x="571500" y="2103500"/>
            <a:ext cx="11148000" cy="395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 [功能] 取得單一作答詳細內容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 [路徑] /</a:t>
            </a:r>
            <a:r>
              <a:rPr lang="en-US" sz="2400" u="sng">
                <a:solidFill>
                  <a:srgbClr val="808080"/>
                </a:solidFill>
                <a:highlight>
                  <a:srgbClr val="1E1F22"/>
                </a:highlight>
              </a:rPr>
              <a:t>api</a:t>
            </a: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</a:t>
            </a:r>
            <a:r>
              <a:rPr lang="en-US" sz="2400" u="sng">
                <a:solidFill>
                  <a:srgbClr val="808080"/>
                </a:solidFill>
                <a:highlight>
                  <a:srgbClr val="1E1F22"/>
                </a:highlight>
              </a:rPr>
              <a:t>admin</a:t>
            </a: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/surveys/response</a:t>
            </a:r>
            <a:r>
              <a:rPr lang="en-US" sz="2400">
                <a:solidFill>
                  <a:srgbClr val="1E789B"/>
                </a:solidFill>
                <a:highlight>
                  <a:srgbClr val="1E1F22"/>
                </a:highlight>
              </a:rPr>
              <a:t>-</a:t>
            </a: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detail/{responseId}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@GetMapping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"/response-detail/{responseId}"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getResponseDetail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@PathVariable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 u="sng">
                <a:solidFill>
                  <a:srgbClr val="17C6A3"/>
                </a:solidFill>
                <a:highlight>
                  <a:srgbClr val="1E1F22"/>
                </a:highlight>
              </a:rPr>
              <a:t>"responseId"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responseId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surveyService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getResponseDetail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responseId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</p:txBody>
      </p:sp>
      <p:sp>
        <p:nvSpPr>
          <p:cNvPr id="730" name="Google Shape;730;p70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35" name="Google Shape;73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71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37" name="Google Shape;737;p71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71"/>
          <p:cNvSpPr txBox="1"/>
          <p:nvPr/>
        </p:nvSpPr>
        <p:spPr>
          <a:xfrm>
            <a:off x="571500" y="1124350"/>
            <a:ext cx="111195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取得該問卷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單一作答者的作答詳細內容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GET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http://localhost:8080/api/admin/surveys/response-detail/</a:t>
            </a:r>
            <a:r>
              <a:rPr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</a:t>
            </a:r>
            <a:endParaRPr sz="28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作答詳細內容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Google Sans Text"/>
              <a:buChar char="○"/>
            </a:pPr>
            <a:r>
              <a:rPr b="1"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1請替換成對應的</a:t>
            </a:r>
            <a:r>
              <a:rPr b="1"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回覆</a:t>
            </a:r>
            <a:r>
              <a:rPr b="1"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ID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43" name="Google Shape;74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4" name="Google Shape;744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52500"/>
            <a:ext cx="9906000" cy="47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72"/>
          <p:cNvSpPr txBox="1"/>
          <p:nvPr/>
        </p:nvSpPr>
        <p:spPr>
          <a:xfrm>
            <a:off x="1143001" y="3026508"/>
            <a:ext cx="9906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統計</a:t>
            </a:r>
            <a:endParaRPr sz="8112"/>
          </a:p>
        </p:txBody>
      </p:sp>
      <p:sp>
        <p:nvSpPr>
          <p:cNvPr id="746" name="Google Shape;746;p72"/>
          <p:cNvSpPr/>
          <p:nvPr/>
        </p:nvSpPr>
        <p:spPr>
          <a:xfrm>
            <a:off x="5619750" y="4287522"/>
            <a:ext cx="952500" cy="38100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73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Repository</a:t>
            </a:r>
            <a:endParaRPr sz="4563"/>
          </a:p>
        </p:txBody>
      </p:sp>
      <p:sp>
        <p:nvSpPr>
          <p:cNvPr id="752" name="Google Shape;752;p73"/>
          <p:cNvSpPr txBox="1"/>
          <p:nvPr/>
        </p:nvSpPr>
        <p:spPr>
          <a:xfrm>
            <a:off x="571500" y="1423525"/>
            <a:ext cx="756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SurveyResponseRepository.java</a:t>
            </a:r>
            <a:endParaRPr sz="3000"/>
          </a:p>
        </p:txBody>
      </p:sp>
      <p:sp>
        <p:nvSpPr>
          <p:cNvPr id="753" name="Google Shape;753;p73"/>
          <p:cNvSpPr txBox="1"/>
          <p:nvPr/>
        </p:nvSpPr>
        <p:spPr>
          <a:xfrm>
            <a:off x="571500" y="2272550"/>
            <a:ext cx="10304700" cy="55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1290C3"/>
                </a:solidFill>
                <a:highlight>
                  <a:srgbClr val="1E1F22"/>
                </a:highlight>
              </a:rPr>
              <a:t>List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400" u="sng">
                <a:solidFill>
                  <a:srgbClr val="B166DA"/>
                </a:solidFill>
                <a:highlight>
                  <a:srgbClr val="1E1F22"/>
                </a:highlight>
              </a:rPr>
              <a:t>SurveyResponse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 u="sng">
                <a:solidFill>
                  <a:srgbClr val="1EB540"/>
                </a:solidFill>
                <a:highlight>
                  <a:srgbClr val="1E1F22"/>
                </a:highlight>
              </a:rPr>
              <a:t>findBySurveyId</a:t>
            </a:r>
            <a:r>
              <a:rPr lang="en-US" sz="2400" u="sng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 u="sng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400" u="sng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 u="sng">
                <a:solidFill>
                  <a:srgbClr val="79ABFF"/>
                </a:solidFill>
                <a:highlight>
                  <a:srgbClr val="1E1F22"/>
                </a:highlight>
              </a:rPr>
              <a:t>surveyId</a:t>
            </a:r>
            <a:r>
              <a:rPr lang="en-US" sz="2400" u="sng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754" name="Google Shape;754;p73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74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60" name="Google Shape;76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74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762" name="Google Shape;762;p74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763" name="Google Shape;763;p74"/>
          <p:cNvSpPr txBox="1"/>
          <p:nvPr/>
        </p:nvSpPr>
        <p:spPr>
          <a:xfrm>
            <a:off x="571500" y="2103500"/>
            <a:ext cx="8926500" cy="459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 u="sng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1EB540"/>
                </a:solidFill>
                <a:highlight>
                  <a:srgbClr val="1E1F22"/>
                </a:highlight>
              </a:rPr>
              <a:t>getSurveyStats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1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2100" u="sng">
                <a:solidFill>
                  <a:srgbClr val="1290C3"/>
                </a:solidFill>
                <a:highlight>
                  <a:srgbClr val="1E1F22"/>
                </a:highlight>
              </a:rPr>
              <a:t>Survey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2F200"/>
                </a:solidFill>
                <a:highlight>
                  <a:srgbClr val="1E1F22"/>
                </a:highlight>
              </a:rPr>
              <a:t>survey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 u="sng">
                <a:solidFill>
                  <a:srgbClr val="D9E8F7"/>
                </a:solidFill>
                <a:highlight>
                  <a:srgbClr val="1E1F22"/>
                </a:highlight>
              </a:rPr>
              <a:t>surveyRepository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findById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orElse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survey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==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1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	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 u="sng">
                <a:solidFill>
                  <a:srgbClr val="D9E8F7"/>
                </a:solidFill>
                <a:highlight>
                  <a:srgbClr val="1E1F22"/>
                </a:highlight>
              </a:rPr>
              <a:t>AppResponse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error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 u="sng">
                <a:solidFill>
                  <a:srgbClr val="D9E8F7"/>
                </a:solidFill>
                <a:highlight>
                  <a:srgbClr val="1E1F22"/>
                </a:highlight>
              </a:rPr>
              <a:t>RspCode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NOT_FOUND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2100" u="sng">
                <a:solidFill>
                  <a:srgbClr val="1290C3"/>
                </a:solidFill>
                <a:highlight>
                  <a:srgbClr val="1E1F22"/>
                </a:highlight>
              </a:rPr>
              <a:t>List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100" u="sng">
                <a:solidFill>
                  <a:srgbClr val="B166DA"/>
                </a:solidFill>
                <a:highlight>
                  <a:srgbClr val="1E1F22"/>
                </a:highlight>
              </a:rPr>
              <a:t>SurveyResponse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2F200"/>
                </a:solidFill>
                <a:highlight>
                  <a:srgbClr val="1E1F22"/>
                </a:highlight>
              </a:rPr>
              <a:t>responses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 u="sng">
                <a:solidFill>
                  <a:srgbClr val="D9E8F7"/>
                </a:solidFill>
                <a:highlight>
                  <a:srgbClr val="1E1F22"/>
                </a:highlight>
              </a:rPr>
              <a:t>responseRepository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findBySurveyId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int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2F200"/>
                </a:solidFill>
                <a:highlight>
                  <a:srgbClr val="1E1F22"/>
                </a:highlight>
              </a:rPr>
              <a:t>totalResponses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responses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size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2100">
                <a:solidFill>
                  <a:srgbClr val="80F2F6"/>
                </a:solidFill>
                <a:highlight>
                  <a:srgbClr val="1E1F22"/>
                </a:highlight>
              </a:rPr>
              <a:t>Map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100">
                <a:solidFill>
                  <a:srgbClr val="B166DA"/>
                </a:solidFill>
                <a:highlight>
                  <a:srgbClr val="1E1F22"/>
                </a:highlight>
              </a:rPr>
              <a:t>String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B166DA"/>
                </a:solidFill>
                <a:highlight>
                  <a:srgbClr val="1E1F22"/>
                </a:highlight>
              </a:rPr>
              <a:t>Object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2F200"/>
                </a:solidFill>
                <a:highlight>
                  <a:srgbClr val="1E1F22"/>
                </a:highlight>
              </a:rPr>
              <a:t>stats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A7EC21"/>
                </a:solidFill>
                <a:highlight>
                  <a:srgbClr val="1E1F22"/>
                </a:highlight>
              </a:rPr>
              <a:t>HashMap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&lt;&gt;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stats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17C6A3"/>
                </a:solidFill>
                <a:highlight>
                  <a:srgbClr val="1E1F22"/>
                </a:highlight>
              </a:rPr>
              <a:t>"surveyId"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survey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getId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stats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17C6A3"/>
                </a:solidFill>
                <a:highlight>
                  <a:srgbClr val="1E1F22"/>
                </a:highlight>
              </a:rPr>
              <a:t>"surveyTitle"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survey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getTitle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stats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17C6A3"/>
                </a:solidFill>
                <a:highlight>
                  <a:srgbClr val="1E1F22"/>
                </a:highlight>
              </a:rPr>
              <a:t>"totalResponses"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totalResponses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2100" u="sng">
                <a:solidFill>
                  <a:srgbClr val="1290C3"/>
                </a:solidFill>
                <a:highlight>
                  <a:srgbClr val="1E1F22"/>
                </a:highlight>
              </a:rPr>
              <a:t>List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100">
                <a:solidFill>
                  <a:srgbClr val="80F2F6"/>
                </a:solidFill>
                <a:highlight>
                  <a:srgbClr val="1E1F22"/>
                </a:highlight>
              </a:rPr>
              <a:t>Map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100">
                <a:solidFill>
                  <a:srgbClr val="B166DA"/>
                </a:solidFill>
                <a:highlight>
                  <a:srgbClr val="1E1F22"/>
                </a:highlight>
              </a:rPr>
              <a:t>String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B166DA"/>
                </a:solidFill>
                <a:highlight>
                  <a:srgbClr val="1E1F22"/>
                </a:highlight>
              </a:rPr>
              <a:t>Object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&gt;&gt;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2F200"/>
                </a:solidFill>
                <a:highlight>
                  <a:srgbClr val="1E1F22"/>
                </a:highlight>
              </a:rPr>
              <a:t>qStatsList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 u="sng">
                <a:solidFill>
                  <a:srgbClr val="1290C3"/>
                </a:solidFill>
                <a:highlight>
                  <a:srgbClr val="1E1F22"/>
                </a:highlight>
              </a:rPr>
              <a:t>ArrayList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&lt;&gt;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</p:txBody>
      </p:sp>
      <p:sp>
        <p:nvSpPr>
          <p:cNvPr id="764" name="Google Shape;764;p74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75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70" name="Google Shape;77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75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772" name="Google Shape;772;p75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773" name="Google Shape;773;p75"/>
          <p:cNvSpPr txBox="1"/>
          <p:nvPr/>
        </p:nvSpPr>
        <p:spPr>
          <a:xfrm>
            <a:off x="571500" y="2103500"/>
            <a:ext cx="11620500" cy="459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for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 u="sng">
                <a:solidFill>
                  <a:srgbClr val="1290C3"/>
                </a:solidFill>
                <a:highlight>
                  <a:srgbClr val="1E1F22"/>
                </a:highlight>
              </a:rPr>
              <a:t>Question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2F200"/>
                </a:solidFill>
                <a:highlight>
                  <a:srgbClr val="1E1F22"/>
                </a:highlight>
              </a:rPr>
              <a:t>q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: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survey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getQuestions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1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	</a:t>
            </a:r>
            <a:r>
              <a:rPr lang="en-US" sz="2100">
                <a:solidFill>
                  <a:srgbClr val="80F2F6"/>
                </a:solidFill>
                <a:highlight>
                  <a:srgbClr val="1E1F22"/>
                </a:highlight>
              </a:rPr>
              <a:t>Map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100">
                <a:solidFill>
                  <a:srgbClr val="B166DA"/>
                </a:solidFill>
                <a:highlight>
                  <a:srgbClr val="1E1F22"/>
                </a:highlight>
              </a:rPr>
              <a:t>String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B166DA"/>
                </a:solidFill>
                <a:highlight>
                  <a:srgbClr val="1E1F22"/>
                </a:highlight>
              </a:rPr>
              <a:t>Object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2F200"/>
                </a:solidFill>
                <a:highlight>
                  <a:srgbClr val="1E1F22"/>
                </a:highlight>
              </a:rPr>
              <a:t>qMap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A7EC21"/>
                </a:solidFill>
                <a:highlight>
                  <a:srgbClr val="1E1F22"/>
                </a:highlight>
              </a:rPr>
              <a:t>HashMap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&lt;&gt;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	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qMap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17C6A3"/>
                </a:solidFill>
                <a:highlight>
                  <a:srgbClr val="1E1F22"/>
                </a:highlight>
              </a:rPr>
              <a:t>"questionId"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q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getId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	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qMap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17C6A3"/>
                </a:solidFill>
                <a:highlight>
                  <a:srgbClr val="1E1F22"/>
                </a:highlight>
              </a:rPr>
              <a:t>"questionTitle"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q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getTitle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	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qMap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17C6A3"/>
                </a:solidFill>
                <a:highlight>
                  <a:srgbClr val="1E1F22"/>
                </a:highlight>
              </a:rPr>
              <a:t>"type"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q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getType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	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q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getType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equals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17C6A3"/>
                </a:solidFill>
                <a:highlight>
                  <a:srgbClr val="1E1F22"/>
                </a:highlight>
              </a:rPr>
              <a:t>"TEXT"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))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1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		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qMap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17C6A3"/>
                </a:solidFill>
                <a:highlight>
                  <a:srgbClr val="1E1F22"/>
                </a:highlight>
              </a:rPr>
              <a:t>"textAnswers"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responses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stream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flatMap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F2F200"/>
                </a:solidFill>
                <a:highlight>
                  <a:srgbClr val="1E1F22"/>
                </a:highlight>
              </a:rPr>
              <a:t>r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r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getAnswers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stream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endParaRPr sz="21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				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filter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F2F200"/>
                </a:solidFill>
                <a:highlight>
                  <a:srgbClr val="1E1F22"/>
                </a:highlight>
              </a:rPr>
              <a:t>a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a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getQuestion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getId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equals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q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getId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()))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map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 u="sng">
                <a:solidFill>
                  <a:srgbClr val="D9E8F7"/>
                </a:solidFill>
                <a:highlight>
                  <a:srgbClr val="1E1F22"/>
                </a:highlight>
              </a:rPr>
              <a:t>ResponseAnswer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::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getAnswerText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1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				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filter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 u="sng">
                <a:solidFill>
                  <a:srgbClr val="D9E8F7"/>
                </a:solidFill>
                <a:highlight>
                  <a:srgbClr val="1E1F22"/>
                </a:highlight>
              </a:rPr>
              <a:t>Objects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::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nonNull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collect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 u="sng">
                <a:solidFill>
                  <a:srgbClr val="D9E8F7"/>
                </a:solidFill>
                <a:highlight>
                  <a:srgbClr val="1E1F22"/>
                </a:highlight>
              </a:rPr>
              <a:t>Collectors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toList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()))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			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</p:txBody>
      </p:sp>
      <p:sp>
        <p:nvSpPr>
          <p:cNvPr id="774" name="Google Shape;774;p75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80" name="Google Shape;780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76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782" name="Google Shape;782;p76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783" name="Google Shape;783;p76"/>
          <p:cNvSpPr txBox="1"/>
          <p:nvPr/>
        </p:nvSpPr>
        <p:spPr>
          <a:xfrm>
            <a:off x="571500" y="2103500"/>
            <a:ext cx="11514300" cy="46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else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7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</a:t>
            </a:r>
            <a:r>
              <a:rPr lang="en-US" sz="1700">
                <a:solidFill>
                  <a:srgbClr val="80F2F6"/>
                </a:solidFill>
                <a:highlight>
                  <a:srgbClr val="1E1F22"/>
                </a:highlight>
              </a:rPr>
              <a:t>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Long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80F2F6"/>
                </a:solidFill>
                <a:highlight>
                  <a:srgbClr val="1E1F22"/>
                </a:highlight>
              </a:rPr>
              <a:t>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String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Object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&gt;&gt;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optMap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HashMap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&lt;&gt;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for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 u="sng">
                <a:solidFill>
                  <a:srgbClr val="1290C3"/>
                </a:solidFill>
                <a:highlight>
                  <a:srgbClr val="1E1F22"/>
                </a:highlight>
              </a:rPr>
              <a:t>Option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o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: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q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getOptions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7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	</a:t>
            </a:r>
            <a:r>
              <a:rPr lang="en-US" sz="1700">
                <a:solidFill>
                  <a:srgbClr val="80F2F6"/>
                </a:solidFill>
                <a:highlight>
                  <a:srgbClr val="1E1F22"/>
                </a:highlight>
              </a:rPr>
              <a:t>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String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Object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oData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HashMap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&lt;&gt;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	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oData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"optionText"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o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getOptionText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	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oData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"count"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6897BB"/>
                </a:solidFill>
                <a:highlight>
                  <a:srgbClr val="1E1F22"/>
                </a:highlight>
              </a:rPr>
              <a:t>0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	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optMap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o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getId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oData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7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responses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stream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flatMap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r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r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getAnswers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stream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endParaRPr sz="17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		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filter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a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a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getQuestion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getId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equals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q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getId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()))</a:t>
            </a:r>
            <a:endParaRPr sz="17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		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flatMap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a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a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getSelectedOptions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stream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forEach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o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7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			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String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Object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oData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optMap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get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o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getId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			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oData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!=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17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				oData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put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"count"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int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oData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get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"count"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+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6897BB"/>
                </a:solidFill>
                <a:highlight>
                  <a:srgbClr val="1E1F22"/>
                </a:highlight>
              </a:rPr>
              <a:t>1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						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})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i="1" sz="2000">
              <a:solidFill>
                <a:srgbClr val="A0A0A0"/>
              </a:solidFill>
              <a:highlight>
                <a:srgbClr val="1E1F22"/>
              </a:highlight>
            </a:endParaRPr>
          </a:p>
        </p:txBody>
      </p:sp>
      <p:sp>
        <p:nvSpPr>
          <p:cNvPr id="784" name="Google Shape;784;p7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90" name="Google Shape;79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77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792" name="Google Shape;792;p77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793" name="Google Shape;793;p77"/>
          <p:cNvSpPr txBox="1"/>
          <p:nvPr/>
        </p:nvSpPr>
        <p:spPr>
          <a:xfrm>
            <a:off x="201075" y="2103500"/>
            <a:ext cx="11687400" cy="417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for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80F2F6"/>
                </a:solidFill>
                <a:highlight>
                  <a:srgbClr val="1E1F22"/>
                </a:highlight>
              </a:rPr>
              <a:t>Map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900">
                <a:solidFill>
                  <a:srgbClr val="B166DA"/>
                </a:solidFill>
                <a:highlight>
                  <a:srgbClr val="1E1F22"/>
                </a:highlight>
              </a:rPr>
              <a:t>String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B166DA"/>
                </a:solidFill>
                <a:highlight>
                  <a:srgbClr val="1E1F22"/>
                </a:highlight>
              </a:rPr>
              <a:t>Object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2F200"/>
                </a:solidFill>
                <a:highlight>
                  <a:srgbClr val="1E1F22"/>
                </a:highlight>
              </a:rPr>
              <a:t>oData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: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optMap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80F6A7"/>
                </a:solidFill>
                <a:highlight>
                  <a:srgbClr val="1E1F22"/>
                </a:highlight>
              </a:rPr>
              <a:t>values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9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					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double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2F200"/>
                </a:solidFill>
                <a:highlight>
                  <a:srgbClr val="1E1F22"/>
                </a:highlight>
              </a:rPr>
              <a:t>pct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totalResponses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6897BB"/>
                </a:solidFill>
                <a:highlight>
                  <a:srgbClr val="1E1F22"/>
                </a:highlight>
              </a:rPr>
              <a:t>0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?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((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int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oData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80F6A7"/>
                </a:solidFill>
                <a:highlight>
                  <a:srgbClr val="1E1F22"/>
                </a:highlight>
              </a:rPr>
              <a:t>get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17C6A3"/>
                </a:solidFill>
                <a:highlight>
                  <a:srgbClr val="1E1F22"/>
                </a:highlight>
              </a:rPr>
              <a:t>"count"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*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6897BB"/>
                </a:solidFill>
                <a:highlight>
                  <a:srgbClr val="1E1F22"/>
                </a:highlight>
              </a:rPr>
              <a:t>100.0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/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totalResponses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: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6897BB"/>
                </a:solidFill>
                <a:highlight>
                  <a:srgbClr val="1E1F22"/>
                </a:highlight>
              </a:rPr>
              <a:t>0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					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oData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17C6A3"/>
                </a:solidFill>
                <a:highlight>
                  <a:srgbClr val="1E1F22"/>
                </a:highlight>
              </a:rPr>
              <a:t>"percentage"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1290C3"/>
                </a:solidFill>
                <a:highlight>
                  <a:srgbClr val="1E1F22"/>
                </a:highlight>
              </a:rPr>
              <a:t>Math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1900">
                <a:solidFill>
                  <a:srgbClr val="96EC3F"/>
                </a:solidFill>
                <a:highlight>
                  <a:srgbClr val="1E1F22"/>
                </a:highlight>
              </a:rPr>
              <a:t>round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pct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*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6897BB"/>
                </a:solidFill>
                <a:highlight>
                  <a:srgbClr val="1E1F22"/>
                </a:highlight>
              </a:rPr>
              <a:t>10.0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/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6897BB"/>
                </a:solidFill>
                <a:highlight>
                  <a:srgbClr val="1E1F22"/>
                </a:highlight>
              </a:rPr>
              <a:t>10.0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				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9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				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qMap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17C6A3"/>
                </a:solidFill>
                <a:highlight>
                  <a:srgbClr val="1E1F22"/>
                </a:highlight>
              </a:rPr>
              <a:t>"optionStats"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optMap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			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9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			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qStatsList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add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qMap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9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stats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80F6A7"/>
                </a:solidFill>
                <a:highlight>
                  <a:srgbClr val="1E1F22"/>
                </a:highlight>
              </a:rPr>
              <a:t>put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17C6A3"/>
                </a:solidFill>
                <a:highlight>
                  <a:srgbClr val="1E1F22"/>
                </a:highlight>
              </a:rPr>
              <a:t>"questionStats"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qStatsList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19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900" u="sng">
                <a:solidFill>
                  <a:srgbClr val="D9E8F7"/>
                </a:solidFill>
                <a:highlight>
                  <a:srgbClr val="1E1F22"/>
                </a:highlight>
              </a:rPr>
              <a:t>AppResponse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success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900">
                <a:solidFill>
                  <a:srgbClr val="F3EC79"/>
                </a:solidFill>
                <a:highlight>
                  <a:srgbClr val="1E1F22"/>
                </a:highlight>
              </a:rPr>
              <a:t>stats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9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9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lang="en-US" sz="19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9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794" name="Google Shape;794;p7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00" name="Google Shape;800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8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AdminSurveyController</a:t>
            </a:r>
            <a:r>
              <a:rPr lang="en-US" sz="3000">
                <a:solidFill>
                  <a:schemeClr val="dk1"/>
                </a:solidFill>
              </a:rPr>
              <a:t>.java</a:t>
            </a:r>
            <a:endParaRPr sz="3000"/>
          </a:p>
        </p:txBody>
      </p:sp>
      <p:sp>
        <p:nvSpPr>
          <p:cNvPr id="802" name="Google Shape;802;p78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803" name="Google Shape;803;p78"/>
          <p:cNvSpPr txBox="1"/>
          <p:nvPr/>
        </p:nvSpPr>
        <p:spPr>
          <a:xfrm>
            <a:off x="571500" y="2103500"/>
            <a:ext cx="11148000" cy="182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</a:t>
            </a:r>
            <a:r>
              <a:rPr lang="en-US" sz="2400" u="sng">
                <a:solidFill>
                  <a:srgbClr val="D9E8F7"/>
                </a:solidFill>
                <a:highlight>
                  <a:srgbClr val="1E1F22"/>
                </a:highlight>
              </a:rPr>
              <a:t>GetMapping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"/{id}/stats"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 u="sng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getSurveyStats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</a:t>
            </a:r>
            <a:r>
              <a:rPr lang="en-US" sz="2400" u="sng">
                <a:solidFill>
                  <a:srgbClr val="D9E8F7"/>
                </a:solidFill>
                <a:highlight>
                  <a:srgbClr val="1E1F22"/>
                </a:highlight>
              </a:rPr>
              <a:t>PathVariable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 u="sng">
                <a:solidFill>
                  <a:srgbClr val="17C6A3"/>
                </a:solidFill>
                <a:highlight>
                  <a:srgbClr val="1E1F22"/>
                </a:highlight>
              </a:rPr>
              <a:t>"id"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	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 u="sng">
                <a:solidFill>
                  <a:srgbClr val="D9E8F7"/>
                </a:solidFill>
                <a:highlight>
                  <a:srgbClr val="1E1F22"/>
                </a:highlight>
              </a:rPr>
              <a:t>surveyService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getSurveyStats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id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</p:txBody>
      </p:sp>
      <p:sp>
        <p:nvSpPr>
          <p:cNvPr id="804" name="Google Shape;804;p7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09" name="Google Shape;809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9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11" name="Google Shape;811;p7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79"/>
          <p:cNvSpPr txBox="1"/>
          <p:nvPr/>
        </p:nvSpPr>
        <p:spPr>
          <a:xfrm>
            <a:off x="571500" y="1124350"/>
            <a:ext cx="116205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作答統計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GET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http://localhost:8080/api/admin/surveys/</a:t>
            </a:r>
            <a:r>
              <a:rPr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/stats</a:t>
            </a:r>
            <a:endParaRPr sz="28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單一問卷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作答統計內容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Google Sans Text"/>
              <a:buChar char="○"/>
            </a:pPr>
            <a:r>
              <a:rPr b="1"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1請替換成對應的問卷ID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17" name="Google Shape;817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8" name="Google Shape;818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52500"/>
            <a:ext cx="9906000" cy="47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80"/>
          <p:cNvSpPr txBox="1"/>
          <p:nvPr/>
        </p:nvSpPr>
        <p:spPr>
          <a:xfrm>
            <a:off x="1143001" y="3026508"/>
            <a:ext cx="9906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新增問卷(Session)</a:t>
            </a:r>
            <a:endParaRPr sz="8112"/>
          </a:p>
        </p:txBody>
      </p:sp>
      <p:sp>
        <p:nvSpPr>
          <p:cNvPr id="820" name="Google Shape;820;p80"/>
          <p:cNvSpPr/>
          <p:nvPr/>
        </p:nvSpPr>
        <p:spPr>
          <a:xfrm>
            <a:off x="5619750" y="4287522"/>
            <a:ext cx="952500" cy="38100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81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26" name="Google Shape;82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81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828" name="Google Shape;828;p81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829" name="Google Shape;829;p81"/>
          <p:cNvSpPr txBox="1"/>
          <p:nvPr/>
        </p:nvSpPr>
        <p:spPr>
          <a:xfrm>
            <a:off x="571500" y="2103500"/>
            <a:ext cx="11620500" cy="437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static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final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b="1" i="1" lang="en-US" sz="2400">
                <a:solidFill>
                  <a:srgbClr val="8DDAF8"/>
                </a:solidFill>
                <a:highlight>
                  <a:srgbClr val="1E1F22"/>
                </a:highlight>
              </a:rPr>
              <a:t>ADMIN_EDIT_SESSION_KEY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"TEMP_ADMIN_SURVEY"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D9E8F7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 [功能] 管理員編輯問卷暫存至 Session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saveAdminSurveyToSession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SurveyDTO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surveyDTO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HttpSession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80F6A7"/>
                </a:solidFill>
                <a:highlight>
                  <a:srgbClr val="1E1F22"/>
                </a:highlight>
              </a:rPr>
              <a:t>setAttribute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b="1" i="1" lang="en-US" sz="2400">
                <a:solidFill>
                  <a:srgbClr val="8DDAF8"/>
                </a:solidFill>
                <a:highlight>
                  <a:srgbClr val="1E1F22"/>
                </a:highlight>
              </a:rPr>
              <a:t>ADMIN_EDIT_SESSION_KEY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surveyDTO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400">
                <a:solidFill>
                  <a:srgbClr val="96EC3F"/>
                </a:solidFill>
                <a:highlight>
                  <a:srgbClr val="1E1F22"/>
                </a:highlight>
              </a:rPr>
              <a:t>success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D9E8F7"/>
              </a:solidFill>
              <a:highlight>
                <a:srgbClr val="1E1F22"/>
              </a:highlight>
            </a:endParaRPr>
          </a:p>
        </p:txBody>
      </p:sp>
      <p:sp>
        <p:nvSpPr>
          <p:cNvPr id="830" name="Google Shape;830;p81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82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36" name="Google Shape;836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82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AdminSurveyController.java</a:t>
            </a:r>
            <a:endParaRPr sz="3000"/>
          </a:p>
        </p:txBody>
      </p:sp>
      <p:sp>
        <p:nvSpPr>
          <p:cNvPr id="838" name="Google Shape;838;p82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839" name="Google Shape;839;p82"/>
          <p:cNvSpPr txBox="1"/>
          <p:nvPr/>
        </p:nvSpPr>
        <p:spPr>
          <a:xfrm>
            <a:off x="571500" y="2103500"/>
            <a:ext cx="11148000" cy="36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5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808080"/>
                </a:solidFill>
                <a:highlight>
                  <a:srgbClr val="1E1F22"/>
                </a:highlight>
              </a:rPr>
              <a:t>    * [功能] 1. 編輯問卷暫存至 Session</a:t>
            </a:r>
            <a:endParaRPr sz="25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5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500">
                <a:solidFill>
                  <a:srgbClr val="A0A0A0"/>
                </a:solidFill>
                <a:highlight>
                  <a:srgbClr val="1E1F22"/>
                </a:highlight>
              </a:rPr>
              <a:t>@PostMapping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500">
                <a:solidFill>
                  <a:srgbClr val="17C6A3"/>
                </a:solidFill>
                <a:highlight>
                  <a:srgbClr val="1E1F22"/>
                </a:highlight>
              </a:rPr>
              <a:t>"/session-store"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5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5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500">
                <a:solidFill>
                  <a:srgbClr val="1290C3"/>
                </a:solidFill>
                <a:highlight>
                  <a:srgbClr val="1B6291"/>
                </a:highlight>
              </a:rPr>
              <a:t>AppResponse</a:t>
            </a:r>
            <a:r>
              <a:rPr lang="en-US" sz="2500">
                <a:solidFill>
                  <a:srgbClr val="E6E6FA"/>
                </a:solidFill>
                <a:highlight>
                  <a:srgbClr val="1B6291"/>
                </a:highlight>
              </a:rPr>
              <a:t>&lt;?&gt;</a:t>
            </a: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500">
                <a:solidFill>
                  <a:srgbClr val="1EB540"/>
                </a:solidFill>
                <a:highlight>
                  <a:srgbClr val="1E1F22"/>
                </a:highlight>
              </a:rPr>
              <a:t>storeSurveyInSession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500">
                <a:solidFill>
                  <a:srgbClr val="A0A0A0"/>
                </a:solidFill>
                <a:highlight>
                  <a:srgbClr val="1E1F22"/>
                </a:highlight>
              </a:rPr>
              <a:t>@RequestBody</a:t>
            </a: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500">
                <a:solidFill>
                  <a:srgbClr val="1290C3"/>
                </a:solidFill>
                <a:highlight>
                  <a:srgbClr val="1E1F22"/>
                </a:highlight>
              </a:rPr>
              <a:t>SurveyDTO</a:t>
            </a: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500">
                <a:solidFill>
                  <a:srgbClr val="79ABFF"/>
                </a:solidFill>
                <a:highlight>
                  <a:srgbClr val="1E1F22"/>
                </a:highlight>
              </a:rPr>
              <a:t>surveyDTO</a:t>
            </a:r>
            <a:r>
              <a:rPr lang="en-US" sz="25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500">
                <a:solidFill>
                  <a:srgbClr val="80F2F6"/>
                </a:solidFill>
                <a:highlight>
                  <a:srgbClr val="1E1F22"/>
                </a:highlight>
              </a:rPr>
              <a:t>HttpSession</a:t>
            </a: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5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5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500">
                <a:solidFill>
                  <a:srgbClr val="CC6C1D"/>
                </a:solidFill>
                <a:highlight>
                  <a:srgbClr val="1B6291"/>
                </a:highlight>
              </a:rPr>
              <a:t>return</a:t>
            </a:r>
            <a:r>
              <a:rPr lang="en-US" sz="2500">
                <a:solidFill>
                  <a:srgbClr val="D9E8F7"/>
                </a:solidFill>
                <a:highlight>
                  <a:srgbClr val="1B6291"/>
                </a:highlight>
              </a:rPr>
              <a:t> </a:t>
            </a:r>
            <a:r>
              <a:rPr lang="en-US" sz="2500">
                <a:solidFill>
                  <a:srgbClr val="66E1F8"/>
                </a:solidFill>
                <a:highlight>
                  <a:srgbClr val="1B6291"/>
                </a:highlight>
              </a:rPr>
              <a:t>surveyService</a:t>
            </a:r>
            <a:r>
              <a:rPr lang="en-US" sz="2500">
                <a:solidFill>
                  <a:srgbClr val="E6E6FA"/>
                </a:solidFill>
                <a:highlight>
                  <a:srgbClr val="1B6291"/>
                </a:highlight>
              </a:rPr>
              <a:t>.</a:t>
            </a:r>
            <a:r>
              <a:rPr lang="en-US" sz="2500">
                <a:solidFill>
                  <a:srgbClr val="A7EC21"/>
                </a:solidFill>
                <a:highlight>
                  <a:srgbClr val="1B6291"/>
                </a:highlight>
              </a:rPr>
              <a:t>saveAdminSurveyToSession</a:t>
            </a:r>
            <a:r>
              <a:rPr lang="en-US" sz="2500">
                <a:solidFill>
                  <a:srgbClr val="F9FAF4"/>
                </a:solidFill>
                <a:highlight>
                  <a:srgbClr val="1B6291"/>
                </a:highlight>
              </a:rPr>
              <a:t>(</a:t>
            </a:r>
            <a:r>
              <a:rPr lang="en-US" sz="2500">
                <a:solidFill>
                  <a:srgbClr val="79ABFF"/>
                </a:solidFill>
                <a:highlight>
                  <a:srgbClr val="1B6291"/>
                </a:highlight>
              </a:rPr>
              <a:t>surveyDTO</a:t>
            </a:r>
            <a:r>
              <a:rPr lang="en-US" sz="2500">
                <a:solidFill>
                  <a:srgbClr val="E6E6FA"/>
                </a:solidFill>
                <a:highlight>
                  <a:srgbClr val="1B6291"/>
                </a:highlight>
              </a:rPr>
              <a:t>,</a:t>
            </a:r>
            <a:r>
              <a:rPr lang="en-US" sz="2500">
                <a:solidFill>
                  <a:srgbClr val="D9E8F7"/>
                </a:solidFill>
                <a:highlight>
                  <a:srgbClr val="1B6291"/>
                </a:highlight>
              </a:rPr>
              <a:t> </a:t>
            </a:r>
            <a:r>
              <a:rPr lang="en-US" sz="2500">
                <a:solidFill>
                  <a:srgbClr val="79ABFF"/>
                </a:solidFill>
                <a:highlight>
                  <a:srgbClr val="1B6291"/>
                </a:highlight>
              </a:rPr>
              <a:t>session</a:t>
            </a:r>
            <a:r>
              <a:rPr lang="en-US" sz="2500">
                <a:solidFill>
                  <a:srgbClr val="F9FAF4"/>
                </a:solidFill>
                <a:highlight>
                  <a:srgbClr val="1B6291"/>
                </a:highlight>
              </a:rPr>
              <a:t>)</a:t>
            </a:r>
            <a:r>
              <a:rPr lang="en-US" sz="2500">
                <a:solidFill>
                  <a:srgbClr val="E6E6FA"/>
                </a:solidFill>
                <a:highlight>
                  <a:srgbClr val="1B6291"/>
                </a:highlight>
              </a:rPr>
              <a:t>;</a:t>
            </a:r>
            <a:endParaRPr sz="2500">
              <a:solidFill>
                <a:srgbClr val="E6E6FA"/>
              </a:solidFill>
              <a:highlight>
                <a:srgbClr val="1B629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5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i="1" sz="3300">
              <a:solidFill>
                <a:srgbClr val="A0A0A0"/>
              </a:solidFill>
              <a:highlight>
                <a:srgbClr val="1E1F22"/>
              </a:highlight>
            </a:endParaRPr>
          </a:p>
        </p:txBody>
      </p:sp>
      <p:sp>
        <p:nvSpPr>
          <p:cNvPr id="840" name="Google Shape;840;p82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5" name="Google Shape;845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83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47" name="Google Shape;847;p83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83"/>
          <p:cNvSpPr txBox="1"/>
          <p:nvPr/>
        </p:nvSpPr>
        <p:spPr>
          <a:xfrm>
            <a:off x="571500" y="1124350"/>
            <a:ext cx="11227200" cy="46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問卷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內容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(暫存於Session)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POST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http://localhost:8080/api/admin/surveys/session-store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Body (JSON):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Google Sans Text"/>
              <a:buChar char="■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參考 </a:t>
            </a:r>
            <a:r>
              <a:rPr b="1" lang="en-US" sz="2800" u="sng">
                <a:solidFill>
                  <a:schemeClr val="hlink"/>
                </a:solidFill>
                <a:latin typeface="Google Sans Text"/>
                <a:ea typeface="Google Sans Text"/>
                <a:cs typeface="Google Sans Text"/>
                <a:sym typeface="Google Sans Text"/>
                <a:hlinkClick r:id="rId4"/>
              </a:rPr>
              <a:t>https://docs.google.com/document/d/1uNZgv125KTMh1R79wOrQgEq-Y7k-pdBbaHQvxTcnhc0/edit?tab=t.jnrb85fal13u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的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新增問卷</a:t>
            </a:r>
            <a:endParaRPr sz="34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null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84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4" name="Google Shape;854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84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SurveyService.java</a:t>
            </a:r>
            <a:endParaRPr sz="3000"/>
          </a:p>
        </p:txBody>
      </p:sp>
      <p:sp>
        <p:nvSpPr>
          <p:cNvPr id="856" name="Google Shape;856;p84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857" name="Google Shape;857;p84"/>
          <p:cNvSpPr txBox="1"/>
          <p:nvPr/>
        </p:nvSpPr>
        <p:spPr>
          <a:xfrm>
            <a:off x="571500" y="2103500"/>
            <a:ext cx="11620500" cy="46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3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808080"/>
                </a:solidFill>
                <a:highlight>
                  <a:srgbClr val="1E1F22"/>
                </a:highlight>
              </a:rPr>
              <a:t>    * [功能] 管理員從 Session 取得正在編輯的問卷</a:t>
            </a:r>
            <a:endParaRPr sz="23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3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3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300">
                <a:solidFill>
                  <a:srgbClr val="B166DA"/>
                </a:solidFill>
                <a:highlight>
                  <a:srgbClr val="1E1F22"/>
                </a:highlight>
              </a:rPr>
              <a:t>SurveyDTO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1EB540"/>
                </a:solidFill>
                <a:highlight>
                  <a:srgbClr val="1E1F22"/>
                </a:highlight>
              </a:rPr>
              <a:t>getAdminSurveyFromSession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300">
                <a:solidFill>
                  <a:srgbClr val="80F2F6"/>
                </a:solidFill>
                <a:highlight>
                  <a:srgbClr val="1E1F22"/>
                </a:highlight>
              </a:rPr>
              <a:t>HttpSession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3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300">
                <a:solidFill>
                  <a:srgbClr val="1290C3"/>
                </a:solidFill>
                <a:highlight>
                  <a:srgbClr val="1E1F22"/>
                </a:highlight>
              </a:rPr>
              <a:t>SurveyDTO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F2F200"/>
                </a:solidFill>
                <a:highlight>
                  <a:srgbClr val="1E1F22"/>
                </a:highlight>
              </a:rPr>
              <a:t>dto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300">
                <a:solidFill>
                  <a:srgbClr val="1290C3"/>
                </a:solidFill>
                <a:highlight>
                  <a:srgbClr val="1E1F22"/>
                </a:highlight>
              </a:rPr>
              <a:t>SurveyDTO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300">
                <a:solidFill>
                  <a:srgbClr val="80F6A7"/>
                </a:solidFill>
                <a:highlight>
                  <a:srgbClr val="1E1F22"/>
                </a:highlight>
              </a:rPr>
              <a:t>getAttribute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b="1" i="1" lang="en-US" sz="2300">
                <a:solidFill>
                  <a:srgbClr val="8DDAF8"/>
                </a:solidFill>
                <a:highlight>
                  <a:srgbClr val="1E1F22"/>
                </a:highlight>
              </a:rPr>
              <a:t>ADMIN_EDIT_SESSION_KEY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3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3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300">
                <a:solidFill>
                  <a:srgbClr val="F3EC79"/>
                </a:solidFill>
                <a:highlight>
                  <a:srgbClr val="1E1F22"/>
                </a:highlight>
              </a:rPr>
              <a:t>dto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==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300">
                <a:solidFill>
                  <a:srgbClr val="96EC3F"/>
                </a:solidFill>
                <a:highlight>
                  <a:srgbClr val="1E1F22"/>
                </a:highlight>
              </a:rPr>
              <a:t>error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300">
                <a:solidFill>
                  <a:srgbClr val="CC81BA"/>
                </a:solidFill>
                <a:highlight>
                  <a:srgbClr val="1E1F22"/>
                </a:highlight>
              </a:rPr>
              <a:t>RspCode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b="1" i="1" lang="en-US" sz="2300">
                <a:solidFill>
                  <a:srgbClr val="8DDAF8"/>
                </a:solidFill>
                <a:highlight>
                  <a:srgbClr val="1E1F22"/>
                </a:highlight>
              </a:rPr>
              <a:t>NOT_FOUND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17C6A3"/>
                </a:solidFill>
                <a:highlight>
                  <a:srgbClr val="1E1F22"/>
                </a:highlight>
              </a:rPr>
              <a:t>"找不到編輯中的資料"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3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3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3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300">
                <a:solidFill>
                  <a:srgbClr val="96EC3F"/>
                </a:solidFill>
                <a:highlight>
                  <a:srgbClr val="1E1F22"/>
                </a:highlight>
              </a:rPr>
              <a:t>success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300">
                <a:solidFill>
                  <a:srgbClr val="F3EC79"/>
                </a:solidFill>
                <a:highlight>
                  <a:srgbClr val="1E1F22"/>
                </a:highlight>
              </a:rPr>
              <a:t>dto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3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3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3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300">
              <a:solidFill>
                <a:srgbClr val="D9E8F7"/>
              </a:solidFill>
              <a:highlight>
                <a:srgbClr val="1E1F22"/>
              </a:highlight>
            </a:endParaRPr>
          </a:p>
        </p:txBody>
      </p:sp>
      <p:sp>
        <p:nvSpPr>
          <p:cNvPr id="858" name="Google Shape;858;p84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85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4" name="Google Shape;864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5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AdminSurveyController.java</a:t>
            </a:r>
            <a:endParaRPr sz="3000"/>
          </a:p>
        </p:txBody>
      </p:sp>
      <p:sp>
        <p:nvSpPr>
          <p:cNvPr id="866" name="Google Shape;866;p85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867" name="Google Shape;867;p85"/>
          <p:cNvSpPr txBox="1"/>
          <p:nvPr/>
        </p:nvSpPr>
        <p:spPr>
          <a:xfrm>
            <a:off x="571500" y="2103500"/>
            <a:ext cx="11148000" cy="310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 [功能] 2. 從 Session 取得編輯中的問卷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@GetMapping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"/session-get"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getSurveyFromSession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HttpSession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surveyService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getAdminSurveyFromSession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</p:txBody>
      </p:sp>
      <p:sp>
        <p:nvSpPr>
          <p:cNvPr id="868" name="Google Shape;868;p85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73" name="Google Shape;8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86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75" name="Google Shape;875;p8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86"/>
          <p:cNvSpPr txBox="1"/>
          <p:nvPr/>
        </p:nvSpPr>
        <p:spPr>
          <a:xfrm>
            <a:off x="571500" y="1124350"/>
            <a:ext cx="109218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取得Session中的問卷內容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GET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http://localhost:8080/api/admin/surveys/session-get</a:t>
            </a:r>
            <a:endParaRPr sz="28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問卷內容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8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82" name="Google Shape;882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87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884" name="Google Shape;884;p87"/>
          <p:cNvSpPr txBox="1"/>
          <p:nvPr/>
        </p:nvSpPr>
        <p:spPr>
          <a:xfrm>
            <a:off x="571500" y="1211798"/>
            <a:ext cx="11620500" cy="526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17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808080"/>
                </a:solidFill>
                <a:highlight>
                  <a:srgbClr val="1E1F22"/>
                </a:highlight>
              </a:rPr>
              <a:t>    * [功能] 管理員正式提交問卷並清空 Session</a:t>
            </a:r>
            <a:endParaRPr sz="17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808080"/>
                </a:solidFill>
                <a:highlight>
                  <a:srgbClr val="1E1F22"/>
                </a:highlight>
              </a:rPr>
              <a:t>    * </a:t>
            </a:r>
            <a:r>
              <a:rPr b="1" lang="en-US" sz="1700">
                <a:solidFill>
                  <a:srgbClr val="9A8C7C"/>
                </a:solidFill>
                <a:highlight>
                  <a:srgbClr val="1E1F22"/>
                </a:highlight>
              </a:rPr>
              <a:t>@param</a:t>
            </a:r>
            <a:r>
              <a:rPr lang="en-US" sz="1700">
                <a:solidFill>
                  <a:srgbClr val="808080"/>
                </a:solidFill>
                <a:highlight>
                  <a:srgbClr val="1E1F22"/>
                </a:highlight>
              </a:rPr>
              <a:t> isPublish 是否發佈 (true </a:t>
            </a:r>
            <a:r>
              <a:rPr lang="en-US" sz="1700">
                <a:solidFill>
                  <a:srgbClr val="1E789B"/>
                </a:solidFill>
                <a:highlight>
                  <a:srgbClr val="1E1F22"/>
                </a:highlight>
              </a:rPr>
              <a:t>-&gt;</a:t>
            </a:r>
            <a:r>
              <a:rPr lang="en-US" sz="1700">
                <a:solidFill>
                  <a:srgbClr val="808080"/>
                </a:solidFill>
                <a:highlight>
                  <a:srgbClr val="1E1F22"/>
                </a:highlight>
              </a:rPr>
              <a:t> PUBLISHED, false </a:t>
            </a:r>
            <a:r>
              <a:rPr lang="en-US" sz="1700">
                <a:solidFill>
                  <a:srgbClr val="1E789B"/>
                </a:solidFill>
                <a:highlight>
                  <a:srgbClr val="1E1F22"/>
                </a:highlight>
              </a:rPr>
              <a:t>-&gt;</a:t>
            </a:r>
            <a:r>
              <a:rPr lang="en-US" sz="1700">
                <a:solidFill>
                  <a:srgbClr val="808080"/>
                </a:solidFill>
                <a:highlight>
                  <a:srgbClr val="1E1F22"/>
                </a:highlight>
              </a:rPr>
              <a:t> DRAFT)</a:t>
            </a:r>
            <a:endParaRPr sz="17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17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1700">
                <a:solidFill>
                  <a:srgbClr val="A0A0A0"/>
                </a:solidFill>
                <a:highlight>
                  <a:srgbClr val="1E1F22"/>
                </a:highlight>
              </a:rPr>
              <a:t>@Transactional</a:t>
            </a:r>
            <a:endParaRPr i="1" sz="17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SurveyDTO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1EB540"/>
                </a:solidFill>
                <a:highlight>
                  <a:srgbClr val="1E1F22"/>
                </a:highlight>
              </a:rPr>
              <a:t>commitAdminSurveyFromSession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boolean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79ABFF"/>
                </a:solidFill>
                <a:highlight>
                  <a:srgbClr val="1E1F22"/>
                </a:highlight>
              </a:rPr>
              <a:t>isPublish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80F2F6"/>
                </a:solidFill>
                <a:highlight>
                  <a:srgbClr val="1E1F22"/>
                </a:highlight>
              </a:rPr>
              <a:t>HttpSession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7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1290C3"/>
                </a:solidFill>
                <a:highlight>
                  <a:srgbClr val="1E1F22"/>
                </a:highlight>
              </a:rPr>
              <a:t>SurveyDTO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dto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1290C3"/>
                </a:solidFill>
                <a:highlight>
                  <a:srgbClr val="1E1F22"/>
                </a:highlight>
              </a:rPr>
              <a:t>SurveyDTO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getAttribute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b="1" i="1" lang="en-US" sz="1700">
                <a:solidFill>
                  <a:srgbClr val="8DDAF8"/>
                </a:solidFill>
                <a:highlight>
                  <a:srgbClr val="1E1F22"/>
                </a:highlight>
              </a:rPr>
              <a:t>ADMIN_EDIT_SESSION_KEY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dto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==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null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1700">
                <a:solidFill>
                  <a:srgbClr val="96EC3F"/>
                </a:solidFill>
                <a:highlight>
                  <a:srgbClr val="1E1F22"/>
                </a:highlight>
              </a:rPr>
              <a:t>error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1700">
                <a:solidFill>
                  <a:srgbClr val="CC81BA"/>
                </a:solidFill>
                <a:highlight>
                  <a:srgbClr val="1E1F22"/>
                </a:highlight>
              </a:rPr>
              <a:t>RspCode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b="1" i="1" lang="en-US" sz="1700">
                <a:solidFill>
                  <a:srgbClr val="8DDAF8"/>
                </a:solidFill>
                <a:highlight>
                  <a:srgbClr val="1E1F22"/>
                </a:highlight>
              </a:rPr>
              <a:t>NOT_FOUND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808080"/>
                </a:solidFill>
                <a:highlight>
                  <a:srgbClr val="1E1F22"/>
                </a:highlight>
              </a:rPr>
              <a:t>// 根據按鈕決定狀態</a:t>
            </a:r>
            <a:endParaRPr sz="17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dto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setStatus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79ABFF"/>
                </a:solidFill>
                <a:highlight>
                  <a:srgbClr val="1E1F22"/>
                </a:highlight>
              </a:rPr>
              <a:t>isPublish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?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"PUBLISHED"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: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17C6A3"/>
                </a:solidFill>
                <a:highlight>
                  <a:srgbClr val="1E1F22"/>
                </a:highlight>
              </a:rPr>
              <a:t>"DRAFT"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</a:t>
            </a:r>
            <a:endParaRPr sz="1700">
              <a:solidFill>
                <a:srgbClr val="D9E8F7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1700">
                <a:solidFill>
                  <a:srgbClr val="B166DA"/>
                </a:solidFill>
                <a:highlight>
                  <a:srgbClr val="1E1F22"/>
                </a:highlight>
              </a:rPr>
              <a:t>SurveyDTO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2F200"/>
                </a:solidFill>
                <a:highlight>
                  <a:srgbClr val="1E1F22"/>
                </a:highlight>
              </a:rPr>
              <a:t>response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saveSurvey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dto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A7EC21"/>
                </a:solidFill>
                <a:highlight>
                  <a:srgbClr val="1E1F22"/>
                </a:highlight>
              </a:rPr>
              <a:t>getCode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==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6897BB"/>
                </a:solidFill>
                <a:highlight>
                  <a:srgbClr val="1E1F22"/>
                </a:highlight>
              </a:rPr>
              <a:t>200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17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17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1700">
                <a:solidFill>
                  <a:srgbClr val="80F6A7"/>
                </a:solidFill>
                <a:highlight>
                  <a:srgbClr val="1E1F22"/>
                </a:highlight>
              </a:rPr>
              <a:t>removeAttribute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b="1" i="1" lang="en-US" sz="1700">
                <a:solidFill>
                  <a:srgbClr val="8DDAF8"/>
                </a:solidFill>
                <a:highlight>
                  <a:srgbClr val="1E1F22"/>
                </a:highlight>
              </a:rPr>
              <a:t>ADMIN_EDIT_SESSION_KEY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7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17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1700">
                <a:solidFill>
                  <a:srgbClr val="F3EC79"/>
                </a:solidFill>
                <a:highlight>
                  <a:srgbClr val="1E1F22"/>
                </a:highlight>
              </a:rPr>
              <a:t>response</a:t>
            </a:r>
            <a:r>
              <a:rPr lang="en-US" sz="17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17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17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</p:txBody>
      </p:sp>
      <p:sp>
        <p:nvSpPr>
          <p:cNvPr id="885" name="Google Shape;885;p8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8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1" name="Google Shape;891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88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AdminSurveyController.java</a:t>
            </a:r>
            <a:endParaRPr sz="3000"/>
          </a:p>
        </p:txBody>
      </p:sp>
      <p:sp>
        <p:nvSpPr>
          <p:cNvPr id="893" name="Google Shape;893;p88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894" name="Google Shape;894;p88"/>
          <p:cNvSpPr txBox="1"/>
          <p:nvPr/>
        </p:nvSpPr>
        <p:spPr>
          <a:xfrm>
            <a:off x="571500" y="2103500"/>
            <a:ext cx="11148000" cy="352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/**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 [功能] 3. 確認提交問卷並決定是否發佈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    */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@PostMapping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"/confirm-commit"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&lt;?&gt;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confirmSurveyCommit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@RequestParam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 u="sng">
                <a:solidFill>
                  <a:srgbClr val="EB4B64"/>
                </a:solidFill>
                <a:highlight>
                  <a:srgbClr val="1E1F22"/>
                </a:highlight>
              </a:rPr>
              <a:t>name</a:t>
            </a:r>
            <a:r>
              <a:rPr lang="en-US" sz="2400" u="sng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 u="sng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400" u="sng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 u="sng">
                <a:solidFill>
                  <a:srgbClr val="17C6A3"/>
                </a:solidFill>
                <a:highlight>
                  <a:srgbClr val="1E1F22"/>
                </a:highlight>
              </a:rPr>
              <a:t>"isPublish"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boolean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isPublish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HttpSession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surveyService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commitAdminSurveyFromSession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isPublish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session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D9E8F7"/>
              </a:solidFill>
              <a:highlight>
                <a:srgbClr val="1E1F22"/>
              </a:highlight>
            </a:endParaRPr>
          </a:p>
        </p:txBody>
      </p:sp>
      <p:sp>
        <p:nvSpPr>
          <p:cNvPr id="895" name="Google Shape;895;p8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0" name="Google Shape;900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9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02" name="Google Shape;902;p8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89"/>
          <p:cNvSpPr txBox="1"/>
          <p:nvPr/>
        </p:nvSpPr>
        <p:spPr>
          <a:xfrm>
            <a:off x="571500" y="1124350"/>
            <a:ext cx="11620500" cy="3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確認提交問卷並決定是否發佈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POST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http://localhost:8080/api/admin/surveys/confirm-commit</a:t>
            </a:r>
            <a:r>
              <a:rPr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?isPublish=true</a:t>
            </a:r>
            <a:endParaRPr sz="28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問卷內容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Google Sans Text"/>
              <a:buChar char="○"/>
            </a:pPr>
            <a:r>
              <a:rPr lang="en-US" sz="280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isPublish=true表示儲存並發布, false則為僅儲存成草稿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8" name="Google Shape;908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9" name="Google Shape;909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52500"/>
            <a:ext cx="9906000" cy="47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90"/>
          <p:cNvSpPr txBox="1"/>
          <p:nvPr/>
        </p:nvSpPr>
        <p:spPr>
          <a:xfrm>
            <a:off x="1143001" y="3026508"/>
            <a:ext cx="9906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註冊</a:t>
            </a:r>
            <a:endParaRPr sz="8112"/>
          </a:p>
        </p:txBody>
      </p:sp>
      <p:sp>
        <p:nvSpPr>
          <p:cNvPr id="911" name="Google Shape;911;p90"/>
          <p:cNvSpPr/>
          <p:nvPr/>
        </p:nvSpPr>
        <p:spPr>
          <a:xfrm>
            <a:off x="5619750" y="4287522"/>
            <a:ext cx="952500" cy="38100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91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Entity</a:t>
            </a:r>
            <a:endParaRPr sz="4563"/>
          </a:p>
        </p:txBody>
      </p:sp>
      <p:sp>
        <p:nvSpPr>
          <p:cNvPr id="917" name="Google Shape;917;p91"/>
          <p:cNvSpPr txBox="1"/>
          <p:nvPr/>
        </p:nvSpPr>
        <p:spPr>
          <a:xfrm>
            <a:off x="571500" y="1423525"/>
            <a:ext cx="11191200" cy="437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import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jakarta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persistence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Column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import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jakarta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persistence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Entity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import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jakarta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persistence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GeneratedValue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import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jakarta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persistence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GenerationType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import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jakarta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persistence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Id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import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jakarta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persistence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Table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import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lombok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Data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@Entity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@Table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EB4B64"/>
                </a:solidFill>
                <a:highlight>
                  <a:srgbClr val="1E1F22"/>
                </a:highlight>
              </a:rPr>
              <a:t>name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"users"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@Data</a:t>
            </a:r>
            <a:endParaRPr b="1" sz="2400">
              <a:solidFill>
                <a:srgbClr val="7F0055"/>
              </a:solidFill>
              <a:highlight>
                <a:srgbClr val="FFFFFF"/>
              </a:highlight>
            </a:endParaRPr>
          </a:p>
        </p:txBody>
      </p:sp>
      <p:sp>
        <p:nvSpPr>
          <p:cNvPr id="918" name="Google Shape;918;p91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92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Entity</a:t>
            </a:r>
            <a:endParaRPr sz="4563"/>
          </a:p>
        </p:txBody>
      </p:sp>
      <p:sp>
        <p:nvSpPr>
          <p:cNvPr id="924" name="Google Shape;924;p92"/>
          <p:cNvSpPr txBox="1"/>
          <p:nvPr/>
        </p:nvSpPr>
        <p:spPr>
          <a:xfrm>
            <a:off x="571500" y="1028562"/>
            <a:ext cx="11191200" cy="480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class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@Id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@GeneratedValue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EB4B64"/>
                </a:solidFill>
                <a:highlight>
                  <a:srgbClr val="1E1F22"/>
                </a:highlight>
              </a:rPr>
              <a:t>strategy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i="1" lang="en-US" sz="2400">
                <a:solidFill>
                  <a:srgbClr val="CC81BA"/>
                </a:solidFill>
                <a:highlight>
                  <a:srgbClr val="1E1F22"/>
                </a:highlight>
              </a:rPr>
              <a:t>GenerationType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b="1" i="1" lang="en-US" sz="2400">
                <a:solidFill>
                  <a:srgbClr val="8DDAF8"/>
                </a:solidFill>
                <a:highlight>
                  <a:srgbClr val="1E1F22"/>
                </a:highlight>
              </a:rPr>
              <a:t>IDENTITY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Long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id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// 使用者ID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endParaRPr sz="2400">
              <a:solidFill>
                <a:srgbClr val="D9E8F7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@Column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EB4B64"/>
                </a:solidFill>
                <a:highlight>
                  <a:srgbClr val="1E1F22"/>
                </a:highlight>
              </a:rPr>
              <a:t>nullable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false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name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// 使用者名稱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endParaRPr sz="2400">
              <a:solidFill>
                <a:srgbClr val="D9E8F7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@Column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EB4B64"/>
                </a:solidFill>
                <a:highlight>
                  <a:srgbClr val="1E1F22"/>
                </a:highlight>
              </a:rPr>
              <a:t>nullable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false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B4B64"/>
                </a:solidFill>
                <a:highlight>
                  <a:srgbClr val="1E1F22"/>
                </a:highlight>
              </a:rPr>
              <a:t>unique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true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email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// 使用者電子郵件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F0055"/>
              </a:solidFill>
              <a:highlight>
                <a:srgbClr val="FFFFFF"/>
              </a:highlight>
            </a:endParaRPr>
          </a:p>
        </p:txBody>
      </p:sp>
      <p:sp>
        <p:nvSpPr>
          <p:cNvPr id="925" name="Google Shape;925;p92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93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Entity</a:t>
            </a:r>
            <a:endParaRPr sz="4563"/>
          </a:p>
        </p:txBody>
      </p:sp>
      <p:sp>
        <p:nvSpPr>
          <p:cNvPr id="931" name="Google Shape;931;p93"/>
          <p:cNvSpPr txBox="1"/>
          <p:nvPr/>
        </p:nvSpPr>
        <p:spPr>
          <a:xfrm>
            <a:off x="571500" y="1028562"/>
            <a:ext cx="11191200" cy="480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</a:t>
            </a:r>
            <a:r>
              <a:rPr i="1" lang="en-US" sz="2400">
                <a:solidFill>
                  <a:srgbClr val="A0A0A0"/>
                </a:solidFill>
                <a:highlight>
                  <a:srgbClr val="1B6291"/>
                </a:highlight>
              </a:rPr>
              <a:t>Column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EB4B64"/>
                </a:solidFill>
                <a:highlight>
                  <a:srgbClr val="1E1F22"/>
                </a:highlight>
              </a:rPr>
              <a:t>nullable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true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phone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// 使用者電話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endParaRPr sz="2400">
              <a:solidFill>
                <a:srgbClr val="D9E8F7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Integer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age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// 使用者年齡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endParaRPr sz="2400">
              <a:solidFill>
                <a:srgbClr val="D9E8F7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</a:t>
            </a:r>
            <a:r>
              <a:rPr i="1" lang="en-US" sz="2400">
                <a:solidFill>
                  <a:srgbClr val="A0A0A0"/>
                </a:solidFill>
                <a:highlight>
                  <a:srgbClr val="1B6291"/>
                </a:highlight>
              </a:rPr>
              <a:t>Column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EB4B64"/>
                </a:solidFill>
                <a:highlight>
                  <a:srgbClr val="1E1F22"/>
                </a:highlight>
              </a:rPr>
              <a:t>nullable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false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password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// 使用者密碼 (實際應該加密存儲)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endParaRPr sz="2400">
              <a:solidFill>
                <a:srgbClr val="D9E8F7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</a:t>
            </a:r>
            <a:r>
              <a:rPr i="1" lang="en-US" sz="2400">
                <a:solidFill>
                  <a:srgbClr val="A0A0A0"/>
                </a:solidFill>
                <a:highlight>
                  <a:srgbClr val="1B6291"/>
                </a:highlight>
              </a:rPr>
              <a:t>Column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EB4B64"/>
                </a:solidFill>
                <a:highlight>
                  <a:srgbClr val="1E1F22"/>
                </a:highlight>
              </a:rPr>
              <a:t>nullable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false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	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role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8080"/>
                </a:solidFill>
                <a:highlight>
                  <a:srgbClr val="1E1F22"/>
                </a:highlight>
              </a:rPr>
              <a:t>// 使用者角色 (例如: "USER", "ADMIN")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b="1" sz="2400">
              <a:solidFill>
                <a:srgbClr val="7F0055"/>
              </a:solidFill>
              <a:highlight>
                <a:srgbClr val="FFFFFF"/>
              </a:highlight>
            </a:endParaRPr>
          </a:p>
        </p:txBody>
      </p:sp>
      <p:sp>
        <p:nvSpPr>
          <p:cNvPr id="932" name="Google Shape;932;p93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94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Repository</a:t>
            </a:r>
            <a:endParaRPr sz="4563"/>
          </a:p>
        </p:txBody>
      </p:sp>
      <p:sp>
        <p:nvSpPr>
          <p:cNvPr id="938" name="Google Shape;938;p94"/>
          <p:cNvSpPr txBox="1"/>
          <p:nvPr/>
        </p:nvSpPr>
        <p:spPr>
          <a:xfrm>
            <a:off x="571500" y="1423525"/>
            <a:ext cx="756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UserRepository</a:t>
            </a:r>
            <a:r>
              <a:rPr lang="en-US" sz="3000">
                <a:solidFill>
                  <a:schemeClr val="dk1"/>
                </a:solidFill>
              </a:rPr>
              <a:t>.java</a:t>
            </a:r>
            <a:endParaRPr sz="3000"/>
          </a:p>
        </p:txBody>
      </p:sp>
      <p:sp>
        <p:nvSpPr>
          <p:cNvPr id="939" name="Google Shape;939;p94"/>
          <p:cNvSpPr txBox="1"/>
          <p:nvPr/>
        </p:nvSpPr>
        <p:spPr>
          <a:xfrm>
            <a:off x="571500" y="2272550"/>
            <a:ext cx="10304700" cy="182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@Repository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interface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F2F6"/>
                </a:solidFill>
                <a:highlight>
                  <a:srgbClr val="1B6291"/>
                </a:highlight>
              </a:rPr>
              <a:t>UserRepository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extends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JpaRepository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400">
                <a:solidFill>
                  <a:srgbClr val="B166DA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B166DA"/>
                </a:solidFill>
                <a:highlight>
                  <a:srgbClr val="1E1F22"/>
                </a:highlight>
              </a:rPr>
              <a:t>Long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Optional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400">
                <a:solidFill>
                  <a:srgbClr val="B166DA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findByEmail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email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 u="sng">
              <a:solidFill>
                <a:srgbClr val="1290C3"/>
              </a:solidFill>
              <a:highlight>
                <a:srgbClr val="1E1F22"/>
              </a:highlight>
            </a:endParaRPr>
          </a:p>
        </p:txBody>
      </p:sp>
      <p:sp>
        <p:nvSpPr>
          <p:cNvPr id="940" name="Google Shape;940;p94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95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DTO</a:t>
            </a:r>
            <a:endParaRPr sz="4563"/>
          </a:p>
        </p:txBody>
      </p:sp>
      <p:sp>
        <p:nvSpPr>
          <p:cNvPr id="946" name="Google Shape;946;p95"/>
          <p:cNvSpPr txBox="1"/>
          <p:nvPr/>
        </p:nvSpPr>
        <p:spPr>
          <a:xfrm>
            <a:off x="571500" y="1423525"/>
            <a:ext cx="756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RegisterDTO</a:t>
            </a:r>
            <a:r>
              <a:rPr lang="en-US" sz="3000">
                <a:solidFill>
                  <a:schemeClr val="dk1"/>
                </a:solidFill>
              </a:rPr>
              <a:t>.java</a:t>
            </a:r>
            <a:endParaRPr sz="3000"/>
          </a:p>
        </p:txBody>
      </p:sp>
      <p:sp>
        <p:nvSpPr>
          <p:cNvPr id="947" name="Google Shape;947;p95"/>
          <p:cNvSpPr txBox="1"/>
          <p:nvPr/>
        </p:nvSpPr>
        <p:spPr>
          <a:xfrm>
            <a:off x="571500" y="2272550"/>
            <a:ext cx="10304700" cy="395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import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lombok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Data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@Data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class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RegisterDTO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name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email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password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phone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Integer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age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</p:txBody>
      </p:sp>
      <p:sp>
        <p:nvSpPr>
          <p:cNvPr id="948" name="Google Shape;948;p95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96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DTO</a:t>
            </a:r>
            <a:endParaRPr sz="4563"/>
          </a:p>
        </p:txBody>
      </p:sp>
      <p:sp>
        <p:nvSpPr>
          <p:cNvPr id="954" name="Google Shape;954;p96"/>
          <p:cNvSpPr txBox="1"/>
          <p:nvPr/>
        </p:nvSpPr>
        <p:spPr>
          <a:xfrm>
            <a:off x="571500" y="1423525"/>
            <a:ext cx="756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LoginResponseDTO</a:t>
            </a:r>
            <a:r>
              <a:rPr lang="en-US" sz="3000">
                <a:solidFill>
                  <a:schemeClr val="dk1"/>
                </a:solidFill>
              </a:rPr>
              <a:t>.java</a:t>
            </a:r>
            <a:endParaRPr sz="3000"/>
          </a:p>
        </p:txBody>
      </p:sp>
      <p:sp>
        <p:nvSpPr>
          <p:cNvPr id="955" name="Google Shape;955;p96"/>
          <p:cNvSpPr txBox="1"/>
          <p:nvPr/>
        </p:nvSpPr>
        <p:spPr>
          <a:xfrm>
            <a:off x="571500" y="2272550"/>
            <a:ext cx="10304700" cy="395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import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lombok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AllArgsConstructor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import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lombok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Data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import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lombok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NoArgsConstructor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@Data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@AllArgsConstructor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@NoArgsConstructor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class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LoginResponseDTO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token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956" name="Google Shape;956;p9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9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2" name="Google Shape;962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97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- AuthService</a:t>
            </a:r>
            <a:endParaRPr sz="4563"/>
          </a:p>
        </p:txBody>
      </p:sp>
      <p:sp>
        <p:nvSpPr>
          <p:cNvPr id="964" name="Google Shape;964;p97"/>
          <p:cNvSpPr txBox="1"/>
          <p:nvPr/>
        </p:nvSpPr>
        <p:spPr>
          <a:xfrm>
            <a:off x="571500" y="1211798"/>
            <a:ext cx="11620500" cy="310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@Service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class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AuthService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@Autowired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UserRepository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userRepository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@Autowired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PasswordEncoder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passwordEncoder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700">
              <a:solidFill>
                <a:srgbClr val="808080"/>
              </a:solidFill>
              <a:highlight>
                <a:srgbClr val="1E1F22"/>
              </a:highlight>
            </a:endParaRPr>
          </a:p>
        </p:txBody>
      </p:sp>
      <p:sp>
        <p:nvSpPr>
          <p:cNvPr id="965" name="Google Shape;965;p9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9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1" name="Google Shape;971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98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973" name="Google Shape;973;p98"/>
          <p:cNvSpPr txBox="1"/>
          <p:nvPr/>
        </p:nvSpPr>
        <p:spPr>
          <a:xfrm>
            <a:off x="571500" y="1211798"/>
            <a:ext cx="11620500" cy="480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register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RegisterDTO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registerDTO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userRepository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80F6A7"/>
                </a:solidFill>
                <a:highlight>
                  <a:srgbClr val="1E1F22"/>
                </a:highlight>
              </a:rPr>
              <a:t>findByEmail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registerDTO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getEmail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isPresent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throw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RuntimeException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"Email address already in use."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2F200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setName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registerDTO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getName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setEmail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registerDTO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getEmail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setPassword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passwordEncoder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80F6A7"/>
                </a:solidFill>
                <a:highlight>
                  <a:srgbClr val="1E1F22"/>
                </a:highlight>
              </a:rPr>
              <a:t>encode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registerDTO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getPassword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()))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setPhone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registerDTO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getPhone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setAge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registerDTO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getAge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</p:txBody>
      </p:sp>
      <p:sp>
        <p:nvSpPr>
          <p:cNvPr id="974" name="Google Shape;974;p9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9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0" name="Google Shape;980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99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endParaRPr sz="4563"/>
          </a:p>
        </p:txBody>
      </p:sp>
      <p:sp>
        <p:nvSpPr>
          <p:cNvPr id="982" name="Google Shape;982;p99"/>
          <p:cNvSpPr txBox="1"/>
          <p:nvPr/>
        </p:nvSpPr>
        <p:spPr>
          <a:xfrm>
            <a:off x="571500" y="1211798"/>
            <a:ext cx="11620500" cy="522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register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RegisterDTO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registerDTO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userRepository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80F6A7"/>
                </a:solidFill>
                <a:highlight>
                  <a:srgbClr val="1E1F22"/>
                </a:highlight>
              </a:rPr>
              <a:t>count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==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897BB"/>
                </a:solidFill>
                <a:highlight>
                  <a:srgbClr val="1E1F22"/>
                </a:highlight>
              </a:rPr>
              <a:t>0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4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setRole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"ADMIN"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else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4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setRole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"USER"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userRepository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80F6A7"/>
                </a:solidFill>
                <a:highlight>
                  <a:srgbClr val="1E1F22"/>
                </a:highlight>
              </a:rPr>
              <a:t>save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login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LoginDTO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400">
                <a:solidFill>
                  <a:srgbClr val="CDF668"/>
                </a:solidFill>
                <a:highlight>
                  <a:srgbClr val="1E1F22"/>
                </a:highlight>
              </a:rPr>
              <a:t>setEmail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registerDTO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getEmail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400">
                <a:solidFill>
                  <a:srgbClr val="CDF668"/>
                </a:solidFill>
                <a:highlight>
                  <a:srgbClr val="1E1F22"/>
                </a:highlight>
              </a:rPr>
              <a:t>setPassword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registerDTO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getPassword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}})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D9E8F7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808080"/>
              </a:solidFill>
              <a:highlight>
                <a:srgbClr val="1E1F22"/>
              </a:highlight>
            </a:endParaRPr>
          </a:p>
        </p:txBody>
      </p:sp>
      <p:sp>
        <p:nvSpPr>
          <p:cNvPr id="983" name="Google Shape;983;p9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00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9" name="Google Shape;989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100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Config</a:t>
            </a:r>
            <a:endParaRPr sz="4563"/>
          </a:p>
        </p:txBody>
      </p:sp>
      <p:sp>
        <p:nvSpPr>
          <p:cNvPr id="991" name="Google Shape;991;p100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00"/>
          <p:cNvSpPr txBox="1"/>
          <p:nvPr/>
        </p:nvSpPr>
        <p:spPr>
          <a:xfrm>
            <a:off x="571500" y="1423525"/>
            <a:ext cx="756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SecurityConfig</a:t>
            </a:r>
            <a:r>
              <a:rPr lang="en-US" sz="3000">
                <a:solidFill>
                  <a:schemeClr val="dk1"/>
                </a:solidFill>
              </a:rPr>
              <a:t>.java</a:t>
            </a:r>
            <a:endParaRPr sz="30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01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8" name="Google Shape;99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101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AuthController</a:t>
            </a:r>
            <a:r>
              <a:rPr lang="en-US" sz="3000">
                <a:solidFill>
                  <a:schemeClr val="dk1"/>
                </a:solidFill>
              </a:rPr>
              <a:t>.java</a:t>
            </a:r>
            <a:endParaRPr sz="3000"/>
          </a:p>
        </p:txBody>
      </p:sp>
      <p:sp>
        <p:nvSpPr>
          <p:cNvPr id="1000" name="Google Shape;1000;p101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1001" name="Google Shape;1001;p101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101"/>
          <p:cNvSpPr txBox="1"/>
          <p:nvPr/>
        </p:nvSpPr>
        <p:spPr>
          <a:xfrm>
            <a:off x="285600" y="2597875"/>
            <a:ext cx="11906400" cy="267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@RestController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@RequestMapping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"/api/auth"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class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AuthController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@Autowired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AuthService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authService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02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08" name="Google Shape;1008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102"/>
          <p:cNvSpPr txBox="1"/>
          <p:nvPr/>
        </p:nvSpPr>
        <p:spPr>
          <a:xfrm>
            <a:off x="571500" y="1423525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AuthController.java</a:t>
            </a:r>
            <a:endParaRPr sz="3000"/>
          </a:p>
        </p:txBody>
      </p:sp>
      <p:sp>
        <p:nvSpPr>
          <p:cNvPr id="1010" name="Google Shape;1010;p102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1011" name="Google Shape;1011;p102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102"/>
          <p:cNvSpPr txBox="1"/>
          <p:nvPr/>
        </p:nvSpPr>
        <p:spPr>
          <a:xfrm>
            <a:off x="142800" y="2149050"/>
            <a:ext cx="11906400" cy="459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100">
                <a:solidFill>
                  <a:srgbClr val="A0A0A0"/>
                </a:solidFill>
                <a:highlight>
                  <a:srgbClr val="1E1F22"/>
                </a:highlight>
              </a:rPr>
              <a:t>@PostMapping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17C6A3"/>
                </a:solidFill>
                <a:highlight>
                  <a:srgbClr val="1E1F22"/>
                </a:highlight>
              </a:rPr>
              <a:t>"/register"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1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100">
                <a:solidFill>
                  <a:srgbClr val="B166DA"/>
                </a:solidFill>
                <a:highlight>
                  <a:srgbClr val="1E1F22"/>
                </a:highlight>
              </a:rPr>
              <a:t>LoginResponseDTO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1EB540"/>
                </a:solidFill>
                <a:highlight>
                  <a:srgbClr val="1E1F22"/>
                </a:highlight>
              </a:rPr>
              <a:t>register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100">
                <a:solidFill>
                  <a:srgbClr val="A0A0A0"/>
                </a:solidFill>
                <a:highlight>
                  <a:srgbClr val="1E1F22"/>
                </a:highlight>
              </a:rPr>
              <a:t>@RequestBody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1290C3"/>
                </a:solidFill>
                <a:highlight>
                  <a:srgbClr val="1E1F22"/>
                </a:highlight>
              </a:rPr>
              <a:t>RegisterDTO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79ABFF"/>
                </a:solidFill>
                <a:highlight>
                  <a:srgbClr val="1E1F22"/>
                </a:highlight>
              </a:rPr>
              <a:t>registerDTO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1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try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1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1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2F200"/>
                </a:solidFill>
                <a:highlight>
                  <a:srgbClr val="1E1F22"/>
                </a:highlight>
              </a:rPr>
              <a:t>token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66E1F8"/>
                </a:solidFill>
                <a:highlight>
                  <a:srgbClr val="1E1F22"/>
                </a:highlight>
              </a:rPr>
              <a:t>authService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A7EC21"/>
                </a:solidFill>
                <a:highlight>
                  <a:srgbClr val="1E1F22"/>
                </a:highlight>
              </a:rPr>
              <a:t>register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79ABFF"/>
                </a:solidFill>
                <a:highlight>
                  <a:srgbClr val="1E1F22"/>
                </a:highlight>
              </a:rPr>
              <a:t>registerDTO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100">
                <a:solidFill>
                  <a:srgbClr val="96EC3F"/>
                </a:solidFill>
                <a:highlight>
                  <a:srgbClr val="1E1F22"/>
                </a:highlight>
              </a:rPr>
              <a:t>success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A7EC21"/>
                </a:solidFill>
                <a:highlight>
                  <a:srgbClr val="1E1F22"/>
                </a:highlight>
              </a:rPr>
              <a:t>LoginResponseDTO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token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catch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1290C3"/>
                </a:solidFill>
                <a:highlight>
                  <a:srgbClr val="1E1F22"/>
                </a:highlight>
              </a:rPr>
              <a:t>RuntimeException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2F200"/>
                </a:solidFill>
                <a:highlight>
                  <a:srgbClr val="1E1F22"/>
                </a:highlight>
              </a:rPr>
              <a:t>e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1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100">
                <a:solidFill>
                  <a:srgbClr val="96EC3F"/>
                </a:solidFill>
                <a:highlight>
                  <a:srgbClr val="1E1F22"/>
                </a:highlight>
              </a:rPr>
              <a:t>error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100">
                <a:solidFill>
                  <a:srgbClr val="CC81BA"/>
                </a:solidFill>
                <a:highlight>
                  <a:srgbClr val="1E1F22"/>
                </a:highlight>
              </a:rPr>
              <a:t>RspCode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b="1" i="1" lang="en-US" sz="2100">
                <a:solidFill>
                  <a:srgbClr val="8DDAF8"/>
                </a:solidFill>
                <a:highlight>
                  <a:srgbClr val="1E1F22"/>
                </a:highlight>
              </a:rPr>
              <a:t>DUPLICATE_ERROR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3EC79"/>
                </a:solidFill>
                <a:highlight>
                  <a:srgbClr val="1E1F22"/>
                </a:highlight>
              </a:rPr>
              <a:t>e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100">
                <a:solidFill>
                  <a:srgbClr val="A7EC21"/>
                </a:solidFill>
                <a:highlight>
                  <a:srgbClr val="1E1F22"/>
                </a:highlight>
              </a:rPr>
              <a:t>getMessage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catch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100">
                <a:solidFill>
                  <a:srgbClr val="1290C3"/>
                </a:solidFill>
                <a:highlight>
                  <a:srgbClr val="1E1F22"/>
                </a:highlight>
              </a:rPr>
              <a:t>Exception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2F200"/>
                </a:solidFill>
                <a:highlight>
                  <a:srgbClr val="1E1F22"/>
                </a:highlight>
              </a:rPr>
              <a:t>e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1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1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100">
                <a:solidFill>
                  <a:srgbClr val="96EC3F"/>
                </a:solidFill>
                <a:highlight>
                  <a:srgbClr val="1E1F22"/>
                </a:highlight>
              </a:rPr>
              <a:t>error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100">
                <a:solidFill>
                  <a:srgbClr val="CC81BA"/>
                </a:solidFill>
                <a:highlight>
                  <a:srgbClr val="1E1F22"/>
                </a:highlight>
              </a:rPr>
              <a:t>RspCode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b="1" i="1" lang="en-US" sz="2100">
                <a:solidFill>
                  <a:srgbClr val="8DDAF8"/>
                </a:solidFill>
                <a:highlight>
                  <a:srgbClr val="1E1F22"/>
                </a:highlight>
              </a:rPr>
              <a:t>INTERNAL_SERVER_ERROR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100">
                <a:solidFill>
                  <a:srgbClr val="17C6A3"/>
                </a:solidFill>
                <a:highlight>
                  <a:srgbClr val="1E1F22"/>
                </a:highlight>
              </a:rPr>
              <a:t>"Registration failed"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1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1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1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1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i="1" sz="2100">
              <a:solidFill>
                <a:srgbClr val="A0A0A0"/>
              </a:solidFill>
              <a:highlight>
                <a:srgbClr val="1E1F22"/>
              </a:highlight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7" name="Google Shape;101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103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019" name="Google Shape;1019;p103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103"/>
          <p:cNvSpPr txBox="1"/>
          <p:nvPr/>
        </p:nvSpPr>
        <p:spPr>
          <a:xfrm>
            <a:off x="571500" y="1124350"/>
            <a:ext cx="116205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註冊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POST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http://localhost:8080/api/auth/register</a:t>
            </a:r>
            <a:endParaRPr sz="28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token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5" name="Google Shape;1025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6" name="Google Shape;1026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52500"/>
            <a:ext cx="9906000" cy="47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104"/>
          <p:cNvSpPr txBox="1"/>
          <p:nvPr/>
        </p:nvSpPr>
        <p:spPr>
          <a:xfrm>
            <a:off x="1143001" y="3026508"/>
            <a:ext cx="9906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4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登入</a:t>
            </a:r>
            <a:endParaRPr sz="8112"/>
          </a:p>
        </p:txBody>
      </p:sp>
      <p:sp>
        <p:nvSpPr>
          <p:cNvPr id="1028" name="Google Shape;1028;p104"/>
          <p:cNvSpPr/>
          <p:nvPr/>
        </p:nvSpPr>
        <p:spPr>
          <a:xfrm>
            <a:off x="5619750" y="4287522"/>
            <a:ext cx="952500" cy="38100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05"/>
          <p:cNvSpPr txBox="1"/>
          <p:nvPr/>
        </p:nvSpPr>
        <p:spPr>
          <a:xfrm>
            <a:off x="571500" y="337676"/>
            <a:ext cx="5200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DTO</a:t>
            </a:r>
            <a:endParaRPr sz="4563"/>
          </a:p>
        </p:txBody>
      </p:sp>
      <p:sp>
        <p:nvSpPr>
          <p:cNvPr id="1034" name="Google Shape;1034;p105"/>
          <p:cNvSpPr txBox="1"/>
          <p:nvPr/>
        </p:nvSpPr>
        <p:spPr>
          <a:xfrm>
            <a:off x="571500" y="1423525"/>
            <a:ext cx="756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LoginDTO.java</a:t>
            </a:r>
            <a:endParaRPr sz="3000"/>
          </a:p>
        </p:txBody>
      </p:sp>
      <p:sp>
        <p:nvSpPr>
          <p:cNvPr id="1035" name="Google Shape;1035;p105"/>
          <p:cNvSpPr txBox="1"/>
          <p:nvPr/>
        </p:nvSpPr>
        <p:spPr>
          <a:xfrm>
            <a:off x="571500" y="2272550"/>
            <a:ext cx="10304700" cy="267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import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lombok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Data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@Data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class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LoginDTO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email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password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1036" name="Google Shape;1036;p105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0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2" name="Google Shape;1042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106"/>
          <p:cNvSpPr txBox="1"/>
          <p:nvPr/>
        </p:nvSpPr>
        <p:spPr>
          <a:xfrm>
            <a:off x="571500" y="337675"/>
            <a:ext cx="89652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</a:t>
            </a: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 - </a:t>
            </a: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CustomUserDetailsService </a:t>
            </a: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CustomUserDetailsServiceCustomUserDetailsService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CustomUserDetailsService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CustomUserDetailsServiceCustomUserDetailsServiceCustomUserDetailsService</a:t>
            </a:r>
            <a:endParaRPr sz="4563"/>
          </a:p>
        </p:txBody>
      </p:sp>
      <p:sp>
        <p:nvSpPr>
          <p:cNvPr id="1044" name="Google Shape;1044;p106"/>
          <p:cNvSpPr txBox="1"/>
          <p:nvPr/>
        </p:nvSpPr>
        <p:spPr>
          <a:xfrm>
            <a:off x="326750" y="1193825"/>
            <a:ext cx="11561700" cy="544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000">
                <a:solidFill>
                  <a:srgbClr val="A0A0A0"/>
                </a:solidFill>
                <a:highlight>
                  <a:srgbClr val="1E1F22"/>
                </a:highlight>
              </a:rPr>
              <a:t>@Service</a:t>
            </a:r>
            <a:endParaRPr i="1" sz="20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class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CustomUserDetailsService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implements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80F2F6"/>
                </a:solidFill>
                <a:highlight>
                  <a:srgbClr val="1E1F22"/>
                </a:highlight>
              </a:rPr>
              <a:t>UserDetailsService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0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000">
                <a:solidFill>
                  <a:srgbClr val="A0A0A0"/>
                </a:solidFill>
                <a:highlight>
                  <a:srgbClr val="1E1F22"/>
                </a:highlight>
              </a:rPr>
              <a:t>@</a:t>
            </a:r>
            <a:r>
              <a:rPr i="1" lang="en-US" sz="2000">
                <a:solidFill>
                  <a:srgbClr val="A0A0A0"/>
                </a:solidFill>
                <a:highlight>
                  <a:srgbClr val="1B6291"/>
                </a:highlight>
              </a:rPr>
              <a:t>Autowired</a:t>
            </a:r>
            <a:endParaRPr i="1" sz="2000">
              <a:solidFill>
                <a:srgbClr val="A0A0A0"/>
              </a:solidFill>
              <a:highlight>
                <a:srgbClr val="1B629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80F2F6"/>
                </a:solidFill>
                <a:highlight>
                  <a:srgbClr val="1E1F22"/>
                </a:highlight>
              </a:rPr>
              <a:t>UserRepository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66E1F8"/>
                </a:solidFill>
                <a:highlight>
                  <a:srgbClr val="1E1F22"/>
                </a:highlight>
              </a:rPr>
              <a:t>userRepository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i="1" lang="en-US" sz="2000">
                <a:solidFill>
                  <a:srgbClr val="A0A0A0"/>
                </a:solidFill>
                <a:highlight>
                  <a:srgbClr val="1E1F22"/>
                </a:highlight>
              </a:rPr>
              <a:t>@Override</a:t>
            </a:r>
            <a:endParaRPr i="1" sz="20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80F2F6"/>
                </a:solidFill>
                <a:highlight>
                  <a:srgbClr val="1E1F22"/>
                </a:highlight>
              </a:rPr>
              <a:t>UserDetails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1EB540"/>
                </a:solidFill>
                <a:highlight>
                  <a:srgbClr val="1E1F22"/>
                </a:highlight>
              </a:rPr>
              <a:t>loadUserByUsername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79ABFF"/>
                </a:solidFill>
                <a:highlight>
                  <a:srgbClr val="1E1F22"/>
                </a:highlight>
              </a:rPr>
              <a:t>email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throws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UsernameNotFoundException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0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User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2F200"/>
                </a:solidFill>
                <a:highlight>
                  <a:srgbClr val="1E1F22"/>
                </a:highlight>
              </a:rPr>
              <a:t>user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66E1F8"/>
                </a:solidFill>
                <a:highlight>
                  <a:srgbClr val="1E1F22"/>
                </a:highlight>
              </a:rPr>
              <a:t>userRepository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80F6A7"/>
                </a:solidFill>
                <a:highlight>
                  <a:srgbClr val="1E1F22"/>
                </a:highlight>
              </a:rPr>
              <a:t>findByEmail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79ABFF"/>
                </a:solidFill>
                <a:highlight>
                  <a:srgbClr val="1E1F22"/>
                </a:highlight>
              </a:rPr>
              <a:t>email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0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        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orElseThrow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(()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UsernameNotFoundException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17C6A3"/>
                </a:solidFill>
                <a:highlight>
                  <a:srgbClr val="1E1F22"/>
                </a:highlight>
              </a:rPr>
              <a:t>"User not found with email : "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+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79ABFF"/>
                </a:solidFill>
                <a:highlight>
                  <a:srgbClr val="1E1F22"/>
                </a:highlight>
              </a:rPr>
              <a:t>email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))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org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springframework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security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core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userdetails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User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endParaRPr sz="20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        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getEmail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getPassword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        </a:t>
            </a:r>
            <a:r>
              <a:rPr lang="en-US" sz="2000">
                <a:solidFill>
                  <a:srgbClr val="1290C3"/>
                </a:solidFill>
                <a:highlight>
                  <a:srgbClr val="1E1F22"/>
                </a:highlight>
              </a:rPr>
              <a:t>Collections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000">
                <a:solidFill>
                  <a:srgbClr val="96EC3F"/>
                </a:solidFill>
                <a:highlight>
                  <a:srgbClr val="1E1F22"/>
                </a:highlight>
              </a:rPr>
              <a:t>singletonList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SimpleGrantedAuthority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000">
                <a:solidFill>
                  <a:srgbClr val="17C6A3"/>
                </a:solidFill>
                <a:highlight>
                  <a:srgbClr val="1E1F22"/>
                </a:highlight>
              </a:rPr>
              <a:t>"ROLE_"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+</a:t>
            </a: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0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000">
                <a:solidFill>
                  <a:srgbClr val="A7EC21"/>
                </a:solidFill>
                <a:highlight>
                  <a:srgbClr val="1E1F22"/>
                </a:highlight>
              </a:rPr>
              <a:t>getRole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()))</a:t>
            </a:r>
            <a:endParaRPr sz="20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0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0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0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1900">
              <a:solidFill>
                <a:srgbClr val="808080"/>
              </a:solidFill>
              <a:highlight>
                <a:srgbClr val="1E1F22"/>
              </a:highlight>
            </a:endParaRPr>
          </a:p>
        </p:txBody>
      </p:sp>
      <p:sp>
        <p:nvSpPr>
          <p:cNvPr id="1045" name="Google Shape;1045;p106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0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1" name="Google Shape;1051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107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JWT</a:t>
            </a:r>
            <a:endParaRPr sz="4563"/>
          </a:p>
        </p:txBody>
      </p:sp>
      <p:sp>
        <p:nvSpPr>
          <p:cNvPr id="1053" name="Google Shape;1053;p107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107"/>
          <p:cNvSpPr txBox="1"/>
          <p:nvPr/>
        </p:nvSpPr>
        <p:spPr>
          <a:xfrm>
            <a:off x="571500" y="1423525"/>
            <a:ext cx="756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JwtTokenProvider</a:t>
            </a:r>
            <a:r>
              <a:rPr lang="en-US" sz="3000">
                <a:solidFill>
                  <a:schemeClr val="dk1"/>
                </a:solidFill>
              </a:rPr>
              <a:t>.java</a:t>
            </a:r>
            <a:endParaRPr sz="3000"/>
          </a:p>
        </p:txBody>
      </p:sp>
      <p:sp>
        <p:nvSpPr>
          <p:cNvPr id="1055" name="Google Shape;1055;p107"/>
          <p:cNvSpPr txBox="1"/>
          <p:nvPr/>
        </p:nvSpPr>
        <p:spPr>
          <a:xfrm>
            <a:off x="571500" y="2454825"/>
            <a:ext cx="756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JwtAuthenticationFilter</a:t>
            </a:r>
            <a:r>
              <a:rPr lang="en-US" sz="3000">
                <a:solidFill>
                  <a:schemeClr val="dk1"/>
                </a:solidFill>
              </a:rPr>
              <a:t>.java</a:t>
            </a:r>
            <a:endParaRPr sz="30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0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1" name="Google Shape;1061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108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 - AuthService</a:t>
            </a:r>
            <a:endParaRPr sz="4563"/>
          </a:p>
        </p:txBody>
      </p:sp>
      <p:sp>
        <p:nvSpPr>
          <p:cNvPr id="1063" name="Google Shape;1063;p108"/>
          <p:cNvSpPr txBox="1"/>
          <p:nvPr/>
        </p:nvSpPr>
        <p:spPr>
          <a:xfrm>
            <a:off x="571500" y="1427238"/>
            <a:ext cx="10957800" cy="182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@Autowired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80F2F6"/>
                </a:solidFill>
                <a:highlight>
                  <a:srgbClr val="1E1F22"/>
                </a:highlight>
              </a:rPr>
              <a:t>AuthenticationManager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authenticationManager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@Autowired</a:t>
            </a:r>
            <a:endParaRPr i="1" sz="2400">
              <a:solidFill>
                <a:srgbClr val="A0A0A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private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JwtTokenProvider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tokenProvider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1064" name="Google Shape;1064;p108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0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0" name="Google Shape;107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109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Service - AuthService</a:t>
            </a:r>
            <a:endParaRPr sz="4563"/>
          </a:p>
        </p:txBody>
      </p:sp>
      <p:sp>
        <p:nvSpPr>
          <p:cNvPr id="1072" name="Google Shape;1072;p109"/>
          <p:cNvSpPr txBox="1"/>
          <p:nvPr/>
        </p:nvSpPr>
        <p:spPr>
          <a:xfrm>
            <a:off x="571500" y="1032275"/>
            <a:ext cx="10957800" cy="558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1EB540"/>
                </a:solidFill>
                <a:highlight>
                  <a:srgbClr val="1E1F22"/>
                </a:highlight>
              </a:rPr>
              <a:t>login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1290C3"/>
                </a:solidFill>
                <a:highlight>
                  <a:srgbClr val="1E1F22"/>
                </a:highlight>
              </a:rPr>
              <a:t>LoginDTO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79ABFF"/>
                </a:solidFill>
                <a:highlight>
                  <a:srgbClr val="1E1F22"/>
                </a:highlight>
              </a:rPr>
              <a:t>loginDTO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2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200">
                <a:solidFill>
                  <a:srgbClr val="80F2F6"/>
                </a:solidFill>
                <a:highlight>
                  <a:srgbClr val="1E1F22"/>
                </a:highlight>
              </a:rPr>
              <a:t>Authentication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F2F200"/>
                </a:solidFill>
                <a:highlight>
                  <a:srgbClr val="1E1F22"/>
                </a:highlight>
              </a:rPr>
              <a:t>authentication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66E1F8"/>
                </a:solidFill>
                <a:highlight>
                  <a:srgbClr val="1E1F22"/>
                </a:highlight>
              </a:rPr>
              <a:t>authenticationManager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80F6A7"/>
                </a:solidFill>
                <a:highlight>
                  <a:srgbClr val="1E1F22"/>
                </a:highlight>
              </a:rPr>
              <a:t>authenticate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endParaRPr sz="22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        </a:t>
            </a:r>
            <a:r>
              <a:rPr lang="en-US" sz="22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A7EC21"/>
                </a:solidFill>
                <a:highlight>
                  <a:srgbClr val="1E1F22"/>
                </a:highlight>
              </a:rPr>
              <a:t>UsernamePasswordAuthenticationToken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endParaRPr sz="22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                </a:t>
            </a:r>
            <a:r>
              <a:rPr lang="en-US" sz="2200">
                <a:solidFill>
                  <a:srgbClr val="79ABFF"/>
                </a:solidFill>
                <a:highlight>
                  <a:srgbClr val="1E1F22"/>
                </a:highlight>
              </a:rPr>
              <a:t>loginDTO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A7EC21"/>
                </a:solidFill>
                <a:highlight>
                  <a:srgbClr val="1E1F22"/>
                </a:highlight>
              </a:rPr>
              <a:t>getEmail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, </a:t>
            </a:r>
            <a:r>
              <a:rPr lang="en-US" sz="2200">
                <a:solidFill>
                  <a:srgbClr val="79ABFF"/>
                </a:solidFill>
                <a:highlight>
                  <a:srgbClr val="1E1F22"/>
                </a:highlight>
              </a:rPr>
              <a:t>loginDTO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A7EC21"/>
                </a:solidFill>
                <a:highlight>
                  <a:srgbClr val="1E1F22"/>
                </a:highlight>
              </a:rPr>
              <a:t>getPassword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endParaRPr sz="22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       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2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2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200">
                <a:solidFill>
                  <a:srgbClr val="1290C3"/>
                </a:solidFill>
                <a:highlight>
                  <a:srgbClr val="1E1F22"/>
                </a:highlight>
              </a:rPr>
              <a:t>SecurityContextHolder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200">
                <a:solidFill>
                  <a:srgbClr val="96EC3F"/>
                </a:solidFill>
                <a:highlight>
                  <a:srgbClr val="1E1F22"/>
                </a:highlight>
              </a:rPr>
              <a:t>getContext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80F6A7"/>
                </a:solidFill>
                <a:highlight>
                  <a:srgbClr val="1E1F22"/>
                </a:highlight>
              </a:rPr>
              <a:t>setAuthentication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F3EC79"/>
                </a:solidFill>
                <a:highlight>
                  <a:srgbClr val="1E1F22"/>
                </a:highlight>
              </a:rPr>
              <a:t>authentication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</a:t>
            </a:r>
            <a:endParaRPr sz="2200">
              <a:solidFill>
                <a:srgbClr val="808080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200">
                <a:solidFill>
                  <a:srgbClr val="66E1F8"/>
                </a:solidFill>
                <a:highlight>
                  <a:srgbClr val="1E1F22"/>
                </a:highlight>
              </a:rPr>
              <a:t>userRepository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80F6A7"/>
                </a:solidFill>
                <a:highlight>
                  <a:srgbClr val="1E1F22"/>
                </a:highlight>
              </a:rPr>
              <a:t>findByEmail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79ABFF"/>
                </a:solidFill>
                <a:highlight>
                  <a:srgbClr val="1E1F22"/>
                </a:highlight>
              </a:rPr>
              <a:t>loginDTO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A7EC21"/>
                </a:solidFill>
                <a:highlight>
                  <a:srgbClr val="1E1F22"/>
                </a:highlight>
              </a:rPr>
              <a:t>getEmail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())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A7EC21"/>
                </a:solidFill>
                <a:highlight>
                  <a:srgbClr val="1E1F22"/>
                </a:highlight>
              </a:rPr>
              <a:t>ifPresent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F2F200"/>
                </a:solidFill>
                <a:highlight>
                  <a:srgbClr val="1E1F22"/>
                </a:highlight>
              </a:rPr>
              <a:t>user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-&gt;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2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200">
                <a:solidFill>
                  <a:srgbClr val="CC6C1D"/>
                </a:solidFill>
                <a:highlight>
                  <a:srgbClr val="1E1F22"/>
                </a:highlight>
              </a:rPr>
              <a:t>if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66E1F8"/>
                </a:solidFill>
                <a:highlight>
                  <a:srgbClr val="1E1F22"/>
                </a:highlight>
              </a:rPr>
              <a:t>userRepository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80F6A7"/>
                </a:solidFill>
                <a:highlight>
                  <a:srgbClr val="1E1F22"/>
                </a:highlight>
              </a:rPr>
              <a:t>count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()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==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6897BB"/>
                </a:solidFill>
                <a:highlight>
                  <a:srgbClr val="1E1F22"/>
                </a:highlight>
              </a:rPr>
              <a:t>1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&amp;&amp;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17C6A3"/>
                </a:solidFill>
                <a:highlight>
                  <a:srgbClr val="1E1F22"/>
                </a:highlight>
              </a:rPr>
              <a:t>"USER"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A7EC21"/>
                </a:solidFill>
                <a:highlight>
                  <a:srgbClr val="1E1F22"/>
                </a:highlight>
              </a:rPr>
              <a:t>equals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A7EC21"/>
                </a:solidFill>
                <a:highlight>
                  <a:srgbClr val="1E1F22"/>
                </a:highlight>
              </a:rPr>
              <a:t>getRole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()))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2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        </a:t>
            </a:r>
            <a:r>
              <a:rPr lang="en-US" sz="22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A7EC21"/>
                </a:solidFill>
                <a:highlight>
                  <a:srgbClr val="1E1F22"/>
                </a:highlight>
              </a:rPr>
              <a:t>setRole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17C6A3"/>
                </a:solidFill>
                <a:highlight>
                  <a:srgbClr val="1E1F22"/>
                </a:highlight>
              </a:rPr>
              <a:t>"ADMIN"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; </a:t>
            </a:r>
            <a:r>
              <a:rPr lang="en-US" sz="2200">
                <a:solidFill>
                  <a:srgbClr val="66E1F8"/>
                </a:solidFill>
                <a:highlight>
                  <a:srgbClr val="1E1F22"/>
                </a:highlight>
              </a:rPr>
              <a:t>userRepository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80F6A7"/>
                </a:solidFill>
                <a:highlight>
                  <a:srgbClr val="1E1F22"/>
                </a:highlight>
              </a:rPr>
              <a:t>save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F3EC79"/>
                </a:solidFill>
                <a:highlight>
                  <a:srgbClr val="1E1F22"/>
                </a:highlight>
              </a:rPr>
              <a:t>user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2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2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})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2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2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200">
                <a:solidFill>
                  <a:srgbClr val="66E1F8"/>
                </a:solidFill>
                <a:highlight>
                  <a:srgbClr val="1E1F22"/>
                </a:highlight>
              </a:rPr>
              <a:t>tokenProvider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200">
                <a:solidFill>
                  <a:srgbClr val="A7EC21"/>
                </a:solidFill>
                <a:highlight>
                  <a:srgbClr val="1E1F22"/>
                </a:highlight>
              </a:rPr>
              <a:t>generateToken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200">
                <a:solidFill>
                  <a:srgbClr val="F3EC79"/>
                </a:solidFill>
                <a:highlight>
                  <a:srgbClr val="1E1F22"/>
                </a:highlight>
              </a:rPr>
              <a:t>authentication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2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2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2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800">
              <a:solidFill>
                <a:srgbClr val="CC6C1D"/>
              </a:solidFill>
              <a:highlight>
                <a:srgbClr val="1E1F22"/>
              </a:highlight>
            </a:endParaRPr>
          </a:p>
        </p:txBody>
      </p:sp>
      <p:sp>
        <p:nvSpPr>
          <p:cNvPr id="1073" name="Google Shape;1073;p109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7"/>
        </a:soli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10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9" name="Google Shape;1079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110"/>
          <p:cNvSpPr txBox="1"/>
          <p:nvPr/>
        </p:nvSpPr>
        <p:spPr>
          <a:xfrm>
            <a:off x="571500" y="1226043"/>
            <a:ext cx="49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AuthController.java</a:t>
            </a:r>
            <a:endParaRPr sz="3000"/>
          </a:p>
        </p:txBody>
      </p:sp>
      <p:sp>
        <p:nvSpPr>
          <p:cNvPr id="1081" name="Google Shape;1081;p110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Controller</a:t>
            </a:r>
            <a:endParaRPr sz="4563"/>
          </a:p>
        </p:txBody>
      </p:sp>
      <p:sp>
        <p:nvSpPr>
          <p:cNvPr id="1082" name="Google Shape;1082;p110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110"/>
          <p:cNvSpPr txBox="1"/>
          <p:nvPr/>
        </p:nvSpPr>
        <p:spPr>
          <a:xfrm>
            <a:off x="142800" y="1969521"/>
            <a:ext cx="11906400" cy="480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@PostMapping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"/login"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public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&lt;</a:t>
            </a:r>
            <a:r>
              <a:rPr lang="en-US" sz="2400">
                <a:solidFill>
                  <a:srgbClr val="B166DA"/>
                </a:solidFill>
                <a:highlight>
                  <a:srgbClr val="1E1F22"/>
                </a:highlight>
              </a:rPr>
              <a:t>LoginResponseDTO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&gt;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EB540"/>
                </a:solidFill>
                <a:highlight>
                  <a:srgbClr val="1E1F22"/>
                </a:highlight>
              </a:rPr>
              <a:t>login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400">
                <a:solidFill>
                  <a:srgbClr val="A0A0A0"/>
                </a:solidFill>
                <a:highlight>
                  <a:srgbClr val="1E1F22"/>
                </a:highlight>
              </a:rPr>
              <a:t>@RequestBody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LoginDTO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loginDTO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try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String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2F200"/>
                </a:solidFill>
                <a:highlight>
                  <a:srgbClr val="1E1F22"/>
                </a:highlight>
              </a:rPr>
              <a:t>token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=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66E1F8"/>
                </a:solidFill>
                <a:highlight>
                  <a:srgbClr val="1E1F22"/>
                </a:highlight>
              </a:rPr>
              <a:t>authService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login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79ABFF"/>
                </a:solidFill>
                <a:highlight>
                  <a:srgbClr val="1E1F22"/>
                </a:highlight>
              </a:rPr>
              <a:t>loginDTO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400">
                <a:solidFill>
                  <a:srgbClr val="96EC3F"/>
                </a:solidFill>
                <a:highlight>
                  <a:srgbClr val="1E1F22"/>
                </a:highlight>
              </a:rPr>
              <a:t>success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new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A7EC21"/>
                </a:solidFill>
                <a:highlight>
                  <a:srgbClr val="1E1F22"/>
                </a:highlight>
              </a:rPr>
              <a:t>LoginResponseDTO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F3EC79"/>
                </a:solidFill>
                <a:highlight>
                  <a:srgbClr val="1E1F22"/>
                </a:highlight>
              </a:rPr>
              <a:t>token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catch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Exception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2F200"/>
                </a:solidFill>
                <a:highlight>
                  <a:srgbClr val="1E1F22"/>
                </a:highlight>
              </a:rPr>
              <a:t>e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{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    </a:t>
            </a:r>
            <a:r>
              <a:rPr lang="en-US" sz="2400">
                <a:solidFill>
                  <a:srgbClr val="CC6C1D"/>
                </a:solidFill>
                <a:highlight>
                  <a:srgbClr val="1E1F22"/>
                </a:highlight>
              </a:rPr>
              <a:t>return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290C3"/>
                </a:solidFill>
                <a:highlight>
                  <a:srgbClr val="1E1F22"/>
                </a:highlight>
              </a:rPr>
              <a:t>AppResponse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i="1" lang="en-US" sz="2400">
                <a:solidFill>
                  <a:srgbClr val="96EC3F"/>
                </a:solidFill>
                <a:highlight>
                  <a:srgbClr val="1E1F22"/>
                </a:highlight>
              </a:rPr>
              <a:t>error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(</a:t>
            </a:r>
            <a:r>
              <a:rPr i="1" lang="en-US" sz="2400">
                <a:solidFill>
                  <a:srgbClr val="CC81BA"/>
                </a:solidFill>
                <a:highlight>
                  <a:srgbClr val="1E1F22"/>
                </a:highlight>
              </a:rPr>
              <a:t>RspCode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.</a:t>
            </a:r>
            <a:r>
              <a:rPr b="1" i="1" lang="en-US" sz="2400">
                <a:solidFill>
                  <a:srgbClr val="8DDAF8"/>
                </a:solidFill>
                <a:highlight>
                  <a:srgbClr val="1E1F22"/>
                </a:highlight>
              </a:rPr>
              <a:t>UNAUTHORIZED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,</a:t>
            </a: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</a:t>
            </a:r>
            <a:r>
              <a:rPr lang="en-US" sz="2400">
                <a:solidFill>
                  <a:srgbClr val="17C6A3"/>
                </a:solidFill>
                <a:highlight>
                  <a:srgbClr val="1E1F22"/>
                </a:highlight>
              </a:rPr>
              <a:t>"Invalid email or password"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)</a:t>
            </a:r>
            <a:r>
              <a:rPr lang="en-US" sz="2400">
                <a:solidFill>
                  <a:srgbClr val="E6E6FA"/>
                </a:solidFill>
                <a:highlight>
                  <a:srgbClr val="1E1F22"/>
                </a:highlight>
              </a:rPr>
              <a:t>;</a:t>
            </a:r>
            <a:endParaRPr sz="2400">
              <a:solidFill>
                <a:srgbClr val="E6E6FA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 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F9FAF4"/>
              </a:solidFill>
              <a:highlight>
                <a:srgbClr val="1E1F22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9E8F7"/>
                </a:solidFill>
                <a:highlight>
                  <a:srgbClr val="1E1F22"/>
                </a:highlight>
              </a:rPr>
              <a:t>   </a:t>
            </a:r>
            <a:r>
              <a:rPr lang="en-US" sz="2400">
                <a:solidFill>
                  <a:srgbClr val="F9FAF4"/>
                </a:solidFill>
                <a:highlight>
                  <a:srgbClr val="1E1F22"/>
                </a:highlight>
              </a:rPr>
              <a:t>}</a:t>
            </a:r>
            <a:endParaRPr sz="2400">
              <a:solidFill>
                <a:srgbClr val="D9E8F7"/>
              </a:solidFill>
              <a:highlight>
                <a:srgbClr val="1E1F22"/>
              </a:highlight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8" name="Google Shape;1088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11"/>
          <p:cNvSpPr txBox="1"/>
          <p:nvPr/>
        </p:nvSpPr>
        <p:spPr>
          <a:xfrm>
            <a:off x="571500" y="337675"/>
            <a:ext cx="6195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0">
                <a:solidFill>
                  <a:srgbClr val="444444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Postman 測試</a:t>
            </a:r>
            <a:endParaRPr b="1" sz="3510">
              <a:solidFill>
                <a:srgbClr val="444444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090" name="Google Shape;1090;p111"/>
          <p:cNvSpPr/>
          <p:nvPr/>
        </p:nvSpPr>
        <p:spPr>
          <a:xfrm>
            <a:off x="571500" y="1029131"/>
            <a:ext cx="4953000" cy="96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111"/>
          <p:cNvSpPr txBox="1"/>
          <p:nvPr/>
        </p:nvSpPr>
        <p:spPr>
          <a:xfrm>
            <a:off x="571500" y="1124350"/>
            <a:ext cx="116205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1. </a:t>
            </a: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登入</a:t>
            </a:r>
            <a:endParaRPr b="1"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Method: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POST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URL: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http://localhost:8080/api/auth/login</a:t>
            </a:r>
            <a:endParaRPr sz="280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indent="-406400" lvl="1" marL="5619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○"/>
            </a:pPr>
            <a:r>
              <a:rPr b="1"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預期結果: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code: 200, data: </a:t>
            </a:r>
            <a:r>
              <a:rPr lang="en-US" sz="2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 email 和 password</a:t>
            </a:r>
            <a:endParaRPr sz="2800">
              <a:solidFill>
                <a:srgbClr val="1F1F1F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